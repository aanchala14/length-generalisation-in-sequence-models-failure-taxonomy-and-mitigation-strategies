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eal-World Extension: SelfRegulationSCP2…"/>
          <p:cNvSpPr txBox="1"/>
          <p:nvPr/>
        </p:nvSpPr>
        <p:spPr>
          <a:xfrm>
            <a:off x="143160" y="389108"/>
            <a:ext cx="23694724" cy="2463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600">
                <a:latin typeface="Helvetica"/>
                <a:ea typeface="Helvetica"/>
                <a:cs typeface="Helvetica"/>
                <a:sym typeface="Helvetica"/>
              </a:defRPr>
            </a:pPr>
            <a:r>
              <a:t>Real-World Extension: SelfRegulationSCP2</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Helvetica"/>
                <a:ea typeface="Helvetica"/>
                <a:cs typeface="Helvetica"/>
                <a:sym typeface="Helvetica"/>
              </a:defRPr>
            </a:pPr>
          </a:p>
          <a:p>
            <a:pPr algn="just"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Helvetica"/>
                <a:ea typeface="Helvetica"/>
                <a:cs typeface="Helvetica"/>
                <a:sym typeface="Helvetica"/>
              </a:defRPr>
            </a:pPr>
            <a:r>
              <a:t>As a small real-world extension, I evaluated SelfRegulationSCP2, a long multivariate time-series classification dataset from the UEA archive. Unlike the synthetic tasks, the real-world classification task did not show catastrophic collapse under longer test lengths. Across positional encodings, mean accuracy remained around 49-54% from length 256 to the full length of 1152. This suggests that the severe failures observed in the synthetic benchmark are especially linked to exact algorithmic sequence transformations, while real-world classification may remain usable because partial or local features are still informative.</a:t>
            </a:r>
          </a:p>
        </p:txBody>
      </p:sp>
      <p:pic>
        <p:nvPicPr>
          <p:cNvPr id="172" name="selfregulationscp2_accuracy_mean_se.png" descr="selfregulationscp2_accuracy_mean_se.png"/>
          <p:cNvPicPr>
            <a:picLocks noChangeAspect="1"/>
          </p:cNvPicPr>
          <p:nvPr/>
        </p:nvPicPr>
        <p:blipFill>
          <a:blip r:embed="rId2">
            <a:extLst/>
          </a:blip>
          <a:stretch>
            <a:fillRect/>
          </a:stretch>
        </p:blipFill>
        <p:spPr>
          <a:xfrm>
            <a:off x="5058691" y="3309057"/>
            <a:ext cx="13863662" cy="8472238"/>
          </a:xfrm>
          <a:prstGeom prst="rect">
            <a:avLst/>
          </a:prstGeom>
          <a:ln w="12700">
            <a:miter lim="400000"/>
          </a:ln>
        </p:spPr>
      </p:pic>
      <p:sp>
        <p:nvSpPr>
          <p:cNvPr id="173" name="Plot 01: selfregulationscp2 accuracy vs length"/>
          <p:cNvSpPr txBox="1"/>
          <p:nvPr/>
        </p:nvSpPr>
        <p:spPr>
          <a:xfrm>
            <a:off x="5947245" y="11670004"/>
            <a:ext cx="4752381" cy="660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i="1" sz="1800">
                <a:latin typeface="Helvetica"/>
                <a:ea typeface="Helvetica"/>
                <a:cs typeface="Helvetica"/>
                <a:sym typeface="Helvetica"/>
              </a:defRPr>
            </a:lvl1pPr>
          </a:lstStyle>
          <a:p>
            <a:pPr/>
            <a:r>
              <a:t>Plot 01: selfregulationscp2 accuracy vs length</a:t>
            </a:r>
            <a:endParaRPr i="0"/>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Main interpretation:…"/>
          <p:cNvSpPr txBox="1"/>
          <p:nvPr/>
        </p:nvSpPr>
        <p:spPr>
          <a:xfrm>
            <a:off x="593734" y="1729014"/>
            <a:ext cx="7826380" cy="561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600">
                <a:latin typeface="Helvetica"/>
                <a:ea typeface="Helvetica"/>
                <a:cs typeface="Helvetica"/>
                <a:sym typeface="Helvetica"/>
              </a:defRPr>
            </a:pPr>
            <a:r>
              <a:t>Main interpretation:</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600">
                <a:latin typeface="Helvetica"/>
                <a:ea typeface="Helvetica"/>
                <a:cs typeface="Helvetica"/>
                <a:sym typeface="Helvetica"/>
              </a:defRPr>
            </a:pP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600">
                <a:latin typeface="Helvetica"/>
                <a:ea typeface="Helvetica"/>
                <a:cs typeface="Helvetica"/>
                <a:sym typeface="Helvetica"/>
              </a:defRPr>
            </a:pP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Accuracy stays roughly between </a:t>
            </a:r>
            <a:r>
              <a:rPr b="1"/>
              <a:t>49% and 56%</a:t>
            </a:r>
            <a:r>
              <a:t> across lengths.</a:t>
            </a: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There is </a:t>
            </a:r>
            <a:r>
              <a:rPr b="1"/>
              <a:t>no catastrophic length collapse</a:t>
            </a:r>
            <a:r>
              <a:t> like in synthetic sequence-to-sequence tasks.</a:t>
            </a: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Learned and sinusoidal are slightly best at full length, both around </a:t>
            </a:r>
            <a:r>
              <a:rPr b="1"/>
              <a:t>53.52%</a:t>
            </a:r>
            <a:r>
              <a:t>.</a:t>
            </a: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RoPE peaks at length 512, around </a:t>
            </a:r>
            <a:r>
              <a:rPr b="1"/>
              <a:t>55.56%</a:t>
            </a:r>
            <a:r>
              <a:t>, but drops at full length.</a:t>
            </a: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NoPE has the largest full-length variation across seeds, with std around </a:t>
            </a:r>
            <a:r>
              <a:rPr b="1"/>
              <a:t>6.86</a:t>
            </a:r>
            <a:r>
              <a:t> at length 1152.</a:t>
            </a:r>
          </a:p>
          <a:p>
            <a:pPr marL="510116" indent="-370416" defTabSz="457200">
              <a:lnSpc>
                <a:spcPct val="100000"/>
              </a:lnSpc>
              <a:spcBef>
                <a:spcPts val="0"/>
              </a:spcBef>
              <a:buSzPct val="123000"/>
              <a:buFont typeface="Helvetica"/>
              <a:buChar char="•"/>
              <a:defRPr sz="2600">
                <a:latin typeface="Helvetica"/>
                <a:ea typeface="Helvetica"/>
                <a:cs typeface="Helvetica"/>
                <a:sym typeface="Helvetica"/>
              </a:defRPr>
            </a:pPr>
            <a:r>
              <a:t>ALiBi is stable but modest.</a:t>
            </a:r>
          </a:p>
        </p:txBody>
      </p:sp>
      <p:sp>
        <p:nvSpPr>
          <p:cNvPr id="176" name="The SelfRegulationSCP2 plot shows classification accuracy across increasing test sequence lengths for five positional encodings. Unlike the synthetic tasks, accuracy does not collapse when the input becomes longer than the training length. Most models re"/>
          <p:cNvSpPr txBox="1"/>
          <p:nvPr/>
        </p:nvSpPr>
        <p:spPr>
          <a:xfrm>
            <a:off x="265962" y="7613094"/>
            <a:ext cx="8073808" cy="5219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Helvetica"/>
                <a:ea typeface="Helvetica"/>
                <a:cs typeface="Helvetica"/>
                <a:sym typeface="Helvetica"/>
              </a:defRPr>
            </a:lvl1pPr>
          </a:lstStyle>
          <a:p>
            <a:pPr/>
            <a:r>
              <a:t>The SelfRegulationSCP2 plot shows classification accuracy across increasing test sequence lengths for five positional encodings. Unlike the synthetic tasks, accuracy does not collapse when the input becomes longer than the training length. Most models remain around 49-54% accuracy from length 256 to the full sequence length of 1152, with some seed variation. This suggests that real-world classification behaves differently from exact algorithmic sequence tasks: even if the model does not learn perfect length-general rules, it can still use informative local or partial patterns in longer inputs.</a:t>
            </a:r>
          </a:p>
        </p:txBody>
      </p:sp>
      <p:pic>
        <p:nvPicPr>
          <p:cNvPr id="177" name="Screenshot 2026-08-23 at 6.30.33 am.png" descr="Screenshot 2026-08-23 at 6.30.33 am.png"/>
          <p:cNvPicPr>
            <a:picLocks noChangeAspect="1"/>
          </p:cNvPicPr>
          <p:nvPr/>
        </p:nvPicPr>
        <p:blipFill>
          <a:blip r:embed="rId2">
            <a:extLst/>
          </a:blip>
          <a:stretch>
            <a:fillRect/>
          </a:stretch>
        </p:blipFill>
        <p:spPr>
          <a:xfrm>
            <a:off x="8573610" y="1622515"/>
            <a:ext cx="15718380" cy="9789169"/>
          </a:xfrm>
          <a:prstGeom prst="rect">
            <a:avLst/>
          </a:prstGeom>
          <a:ln w="12700">
            <a:miter lim="400000"/>
          </a:ln>
        </p:spPr>
      </p:pic>
      <p:sp>
        <p:nvSpPr>
          <p:cNvPr id="178" name="Table 01: selfregulationscp2 summary table"/>
          <p:cNvSpPr txBox="1"/>
          <p:nvPr/>
        </p:nvSpPr>
        <p:spPr>
          <a:xfrm>
            <a:off x="8742615" y="11501645"/>
            <a:ext cx="4510833" cy="381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i="1" sz="1800">
                <a:latin typeface="Helvetica"/>
                <a:ea typeface="Helvetica"/>
                <a:cs typeface="Helvetica"/>
                <a:sym typeface="Helvetica"/>
              </a:defRPr>
            </a:lvl1pPr>
          </a:lstStyle>
          <a:p>
            <a:pPr/>
            <a:r>
              <a:t>Table 01: selfregulationscp2 summary table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80" name="Table 1"/>
          <p:cNvGraphicFramePr/>
          <p:nvPr/>
        </p:nvGraphicFramePr>
        <p:xfrm>
          <a:off x="2491792" y="1657146"/>
          <a:ext cx="19413116" cy="902877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466805"/>
                <a:gridCol w="6466805"/>
                <a:gridCol w="6466805"/>
              </a:tblGrid>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b="1" sz="1400">
                          <a:latin typeface="Helvetica"/>
                          <a:ea typeface="Helvetica"/>
                          <a:cs typeface="Helvetica"/>
                          <a:sym typeface="Helvetica"/>
                        </a:rPr>
                        <a:t>Aspect</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b="1" sz="1400">
                          <a:latin typeface="Helvetica"/>
                          <a:ea typeface="Helvetica"/>
                          <a:cs typeface="Helvetica"/>
                          <a:sym typeface="Helvetica"/>
                        </a:rPr>
                        <a:t>Synthetic Tasks</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b="1" sz="1400">
                          <a:latin typeface="Helvetica"/>
                          <a:ea typeface="Helvetica"/>
                          <a:cs typeface="Helvetica"/>
                          <a:sym typeface="Helvetica"/>
                        </a:rPr>
                        <a:t>Real-World Extension</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Tasks</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Addition, delayed copy, reverse</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SelfRegulationSCP2</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Task type</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Exact sequence prediction</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Time-series classification</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Train length</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Addition: 16, copy/reverse: 128</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256</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Longest test length</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1024</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1152</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Main metric</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Exact match + token accuracy</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Classification accuracy</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Failure pattern</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Sharp collapse after training length</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No sharp collapse</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Typical result</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Exact match drops to 0% at longer lengths</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Accuracy stays around 49-54%</a:t>
                      </a:r>
                    </a:p>
                  </a:txBody>
                  <a:tcPr marL="50800" marR="50800" marT="50800" marB="50800" anchor="ctr" anchorCtr="0" horzOverflow="overflow"/>
                </a:tc>
              </a:tr>
              <a:tr h="1001786">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Interpretation</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Model learns length-specific solutions instead of general algorithms</a:t>
                      </a:r>
                    </a:p>
                  </a:txBody>
                  <a:tcPr marL="50800" marR="50800" marT="50800" marB="50800" anchor="ctr" anchorCtr="0" horzOverflow="overflow"/>
                </a:tc>
                <a:tc>
                  <a:txBody>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1400">
                          <a:latin typeface="Helvetica"/>
                          <a:ea typeface="Helvetica"/>
                          <a:cs typeface="Helvetica"/>
                          <a:sym typeface="Helvetica"/>
                        </a:rPr>
                        <a:t>Model may rely on partial/local features that remain useful at longer lengths</a:t>
                      </a:r>
                    </a:p>
                  </a:txBody>
                  <a:tcPr marL="50800" marR="50800" marT="50800" marB="50800" anchor="ctr" anchorCtr="0" horzOverflow="overflow"/>
                </a:tc>
              </a:tr>
            </a:tbl>
          </a:graphicData>
        </a:graphic>
      </p:graphicFrame>
      <p:sp>
        <p:nvSpPr>
          <p:cNvPr id="181" name="Table 02: Comparison synthetic vs real-world"/>
          <p:cNvSpPr txBox="1"/>
          <p:nvPr/>
        </p:nvSpPr>
        <p:spPr>
          <a:xfrm>
            <a:off x="2711901" y="10935403"/>
            <a:ext cx="4662861" cy="660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i="1" sz="1800">
                <a:latin typeface="Helvetica"/>
                <a:ea typeface="Helvetica"/>
                <a:cs typeface="Helvetica"/>
                <a:sym typeface="Helvetica"/>
              </a:defRPr>
            </a:lvl1pPr>
          </a:lstStyle>
          <a:p>
            <a:pPr/>
            <a:r>
              <a:t>Table 02: Comparison synthetic vs real-world</a:t>
            </a:r>
            <a:endParaRPr i="0"/>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