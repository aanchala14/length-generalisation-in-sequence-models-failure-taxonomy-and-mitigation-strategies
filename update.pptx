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_rels/chart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630259"/>
          <c:y val="0.0290877"/>
          <c:w val="0.931974"/>
          <c:h val="0.80140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 accuracy</c:v>
                </c:pt>
              </c:strCache>
            </c:strRef>
          </c:tx>
          <c:spPr>
            <a:solidFill>
              <a:schemeClr val="accent1"/>
            </a:solidFill>
            <a:ln w="28575" cap="flat">
              <a:solidFill>
                <a:srgbClr val="4A7EBB"/>
              </a:solidFill>
              <a:prstDash val="solid"/>
              <a:round/>
            </a:ln>
            <a:effectLst/>
          </c:spPr>
          <c:marker>
            <c:symbol val="diamond"/>
            <c:size val="5"/>
            <c:spPr>
              <a:solidFill>
                <a:schemeClr val="accent1"/>
              </a:solidFill>
              <a:ln w="9525" cap="flat">
                <a:solidFill>
                  <a:srgbClr val="4A7EB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100.000000</c:v>
                </c:pt>
                <c:pt idx="1">
                  <c:v>30.066815</c:v>
                </c:pt>
                <c:pt idx="2">
                  <c:v>25.140998</c:v>
                </c:pt>
                <c:pt idx="3">
                  <c:v>26.834903</c:v>
                </c:pt>
                <c:pt idx="4">
                  <c:v>21.935680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Exact match</c:v>
                </c:pt>
              </c:strCache>
            </c:strRef>
          </c:tx>
          <c:spPr>
            <a:solidFill>
              <a:schemeClr val="accent2"/>
            </a:solidFill>
            <a:ln w="28575" cap="flat">
              <a:solidFill>
                <a:srgbClr val="BE4B48"/>
              </a:solidFill>
              <a:prstDash val="solid"/>
              <a:round/>
            </a:ln>
            <a:effectLst/>
          </c:spPr>
          <c:marker>
            <c:symbol val="square"/>
            <c:size val="5"/>
            <c:spPr>
              <a:solidFill>
                <a:schemeClr val="accent2"/>
              </a:solidFill>
              <a:ln w="9525" cap="flat">
                <a:solidFill>
                  <a:srgbClr val="BE4B4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</c:strCache>
            </c:strRef>
          </c:cat>
          <c:val>
            <c:numRef>
              <c:f>Sheet1!$C$2:$C$6</c:f>
              <c:numCache>
                <c:ptCount val="5"/>
                <c:pt idx="0">
                  <c:v>100.000000</c:v>
                </c:pt>
                <c:pt idx="1">
                  <c:v>0.800000</c:v>
                </c:pt>
                <c:pt idx="2">
                  <c:v>0.000000</c:v>
                </c:pt>
                <c:pt idx="3">
                  <c:v>0.000000</c:v>
                </c:pt>
                <c:pt idx="4">
                  <c:v>0.000000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900" u="none">
                <a:solidFill>
                  <a:srgbClr val="000000"/>
                </a:solidFill>
                <a:latin typeface="Calibri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#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900" u="none">
                <a:solidFill>
                  <a:srgbClr val="000000"/>
                </a:solidFill>
                <a:latin typeface="Calibri"/>
              </a:defRPr>
            </a:pPr>
          </a:p>
        </c:txPr>
        <c:crossAx val="2094734552"/>
        <c:crosses val="autoZero"/>
        <c:crossBetween val="between"/>
        <c:majorUnit val="25"/>
        <c:minorUnit val="12.5"/>
      </c:valAx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.441551"/>
          <c:y val="0.864695"/>
          <c:w val="0.373269"/>
          <c:h val="0.135305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b="0" i="0" strike="noStrike" sz="1800" u="non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621487"/>
          <c:y val="0.0283983"/>
          <c:w val="0.932851"/>
          <c:h val="0.77745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 accuracy</c:v>
                </c:pt>
              </c:strCache>
            </c:strRef>
          </c:tx>
          <c:spPr>
            <a:solidFill>
              <a:schemeClr val="accent1"/>
            </a:solidFill>
            <a:ln w="28575" cap="flat">
              <a:solidFill>
                <a:srgbClr val="4A7EBB"/>
              </a:solidFill>
              <a:prstDash val="solid"/>
              <a:round/>
            </a:ln>
            <a:effectLst/>
          </c:spPr>
          <c:marker>
            <c:symbol val="diamond"/>
            <c:size val="6"/>
            <c:spPr>
              <a:solidFill>
                <a:schemeClr val="accent1"/>
              </a:solidFill>
              <a:ln w="9525" cap="flat">
                <a:solidFill>
                  <a:srgbClr val="4A7EB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128</c:v>
                </c:pt>
                <c:pt idx="1">
                  <c:v>256</c:v>
                </c:pt>
                <c:pt idx="2">
                  <c:v>512</c:v>
                </c:pt>
                <c:pt idx="3">
                  <c:v>1024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49.558737</c:v>
                </c:pt>
                <c:pt idx="1">
                  <c:v>0.621967</c:v>
                </c:pt>
                <c:pt idx="2">
                  <c:v>0.569499</c:v>
                </c:pt>
                <c:pt idx="3">
                  <c:v>0.524976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Exact match</c:v>
                </c:pt>
              </c:strCache>
            </c:strRef>
          </c:tx>
          <c:spPr>
            <a:solidFill>
              <a:schemeClr val="accent2"/>
            </a:solidFill>
            <a:ln w="28575" cap="flat">
              <a:solidFill>
                <a:srgbClr val="BE4B48"/>
              </a:solidFill>
              <a:prstDash val="solid"/>
              <a:round/>
            </a:ln>
            <a:effectLst/>
          </c:spPr>
          <c:marker>
            <c:symbol val="square"/>
            <c:size val="6"/>
            <c:spPr>
              <a:solidFill>
                <a:schemeClr val="accent2"/>
              </a:solidFill>
              <a:ln w="9525" cap="flat">
                <a:solidFill>
                  <a:srgbClr val="BE4B4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128</c:v>
                </c:pt>
                <c:pt idx="1">
                  <c:v>256</c:v>
                </c:pt>
                <c:pt idx="2">
                  <c:v>512</c:v>
                </c:pt>
                <c:pt idx="3">
                  <c:v>1024</c:v>
                </c:pt>
              </c:strCache>
            </c:strRef>
          </c:cat>
          <c:val>
            <c:numRef>
              <c:f>Sheet1!$C$2:$C$5</c:f>
              <c:numCache>
                <c:ptCount val="4"/>
                <c:pt idx="0">
                  <c:v>0.000000</c:v>
                </c:pt>
                <c:pt idx="1">
                  <c:v>0.000000</c:v>
                </c:pt>
                <c:pt idx="2">
                  <c:v>0.000000</c:v>
                </c:pt>
                <c:pt idx="3">
                  <c:v>0.000000</c:v>
                </c:pt>
              </c:numCache>
            </c:numRef>
          </c:val>
          <c:smooth val="0"/>
        </c:ser>
        <c:marker val="1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900" u="none">
                <a:solidFill>
                  <a:srgbClr val="000000"/>
                </a:solidFill>
                <a:latin typeface="Calibri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#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/>
          <a:lstStyle/>
          <a:p>
            <a:pPr>
              <a:defRPr b="0" i="0" strike="noStrike" sz="900" u="none">
                <a:solidFill>
                  <a:srgbClr val="000000"/>
                </a:solidFill>
                <a:latin typeface="Calibri"/>
              </a:defRPr>
            </a:pPr>
          </a:p>
        </c:txPr>
        <c:crossAx val="2094734552"/>
        <c:crosses val="autoZero"/>
        <c:crossBetween val="between"/>
        <c:majorUnit val="25"/>
        <c:minorUnit val="12.5"/>
      </c:valAx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.215375"/>
          <c:y val="0.867606"/>
          <c:w val="0.601969"/>
          <c:h val="0.132394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b="0" i="0" strike="noStrike" sz="1800" u="non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82A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TextBox 3"/>
          <p:cNvSpPr txBox="1"/>
          <p:nvPr/>
        </p:nvSpPr>
        <p:spPr>
          <a:xfrm>
            <a:off x="777238" y="960120"/>
            <a:ext cx="10012558" cy="542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Length Generalisation in Transformer Sequence Models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795527" y="2286000"/>
            <a:ext cx="6660315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solidFill>
                  <a:srgbClr val="DFE8F1"/>
                </a:solidFill>
              </a:defRPr>
            </a:lvl1pPr>
          </a:lstStyle>
          <a:p>
            <a:pPr/>
            <a:r>
              <a:t>progress update: experiment design, completed checks, and next steps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795528" y="5394960"/>
            <a:ext cx="1632138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500">
                <a:solidFill>
                  <a:srgbClr val="DFE8F1"/>
                </a:solidFill>
              </a:defRPr>
            </a:lvl1pPr>
          </a:lstStyle>
          <a:p>
            <a:pPr/>
            <a:r>
              <a:t>Aanchala Bhongade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-6199" y="160020"/>
            <a:ext cx="12191698" cy="6858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TextBox 2"/>
          <p:cNvSpPr txBox="1"/>
          <p:nvPr/>
        </p:nvSpPr>
        <p:spPr>
          <a:xfrm>
            <a:off x="548638" y="320041"/>
            <a:ext cx="2965497" cy="437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600">
                <a:solidFill>
                  <a:srgbClr val="14273F"/>
                </a:solidFill>
              </a:defRPr>
            </a:lvl1pPr>
          </a:lstStyle>
          <a:p>
            <a:pPr/>
            <a:r>
              <a:t>Literature Grounding</a:t>
            </a:r>
          </a:p>
        </p:txBody>
      </p:sp>
      <p:graphicFrame>
        <p:nvGraphicFramePr>
          <p:cNvPr id="102" name="Table 4"/>
          <p:cNvGraphicFramePr/>
          <p:nvPr/>
        </p:nvGraphicFramePr>
        <p:xfrm>
          <a:off x="685800" y="1325880"/>
          <a:ext cx="10789920" cy="387967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5394960"/>
                <a:gridCol w="5394960"/>
              </a:tblGrid>
              <a:tr h="64661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Kazemnejad et al.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Main template: synthetic tasks + PE comparison + length extrapolation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Press et al. / ALiBi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Train short, test long; efficient extrapolatable attention bias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C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RoFormer / RoPE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Relative-position mechanism to include in PE comparison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Zhou et al.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Algorithmic tasks reveal whether models learn rules or shortcuts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C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Long Range Arena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Motivation for evaluating 1K+ token contexts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Rough Transformers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Real-world motivation: long, irregular, computationally costly sequences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03" name="TextBox 6"/>
          <p:cNvSpPr txBox="1"/>
          <p:nvPr/>
        </p:nvSpPr>
        <p:spPr>
          <a:xfrm>
            <a:off x="11411525" y="6473953"/>
            <a:ext cx="155633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800">
                <a:solidFill>
                  <a:srgbClr val="5E6A75"/>
                </a:solidFill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TextBox 2"/>
          <p:cNvSpPr txBox="1"/>
          <p:nvPr/>
        </p:nvSpPr>
        <p:spPr>
          <a:xfrm>
            <a:off x="548638" y="320041"/>
            <a:ext cx="2472131" cy="437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600">
                <a:solidFill>
                  <a:srgbClr val="182A45"/>
                </a:solidFill>
              </a:defRPr>
            </a:lvl1pPr>
          </a:lstStyle>
          <a:p>
            <a:pPr/>
            <a:r>
              <a:t>Brief Project Plan</a:t>
            </a:r>
          </a:p>
        </p:txBody>
      </p:sp>
      <p:sp>
        <p:nvSpPr>
          <p:cNvPr id="107" name="TextBox 3"/>
          <p:cNvSpPr txBox="1"/>
          <p:nvPr/>
        </p:nvSpPr>
        <p:spPr>
          <a:xfrm>
            <a:off x="576071" y="841248"/>
            <a:ext cx="2160720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200">
                <a:solidFill>
                  <a:srgbClr val="5C6773"/>
                </a:solidFill>
              </a:defRPr>
            </a:lvl1pPr>
          </a:lstStyle>
          <a:p>
            <a:pPr/>
            <a:r>
              <a:t>Condensed from the written plan</a:t>
            </a:r>
          </a:p>
        </p:txBody>
      </p:sp>
      <p:graphicFrame>
        <p:nvGraphicFramePr>
          <p:cNvPr id="108" name="Table 4"/>
          <p:cNvGraphicFramePr/>
          <p:nvPr/>
        </p:nvGraphicFramePr>
        <p:xfrm>
          <a:off x="685800" y="1234438"/>
          <a:ext cx="10789920" cy="480060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596640"/>
                <a:gridCol w="3596640"/>
                <a:gridCol w="3596640"/>
              </a:tblGrid>
              <a:tr h="68580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8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8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82A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Build framework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Synthetic datasets, baseline Transformer, train/evaluate pipeline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Baseline comparison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Train short, test long on controlled tasks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Positional encodings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Learned, sinusoidal, NoPE, ALiBi, RoPE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Failure analysis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Accuracy drop, exact match, attention/failure diagnostics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Extended experiments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Repeat across tasks and random seeds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Mitigation later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Length-randomised training, chunking/sliding window, recurrence ideas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109" name="Rectangle 5"/>
          <p:cNvSpPr/>
          <p:nvPr/>
        </p:nvSpPr>
        <p:spPr>
          <a:xfrm>
            <a:off x="502919" y="6454800"/>
            <a:ext cx="11155682" cy="12702"/>
          </a:xfrm>
          <a:prstGeom prst="rect">
            <a:avLst/>
          </a:prstGeom>
          <a:solidFill>
            <a:srgbClr val="DDE2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TextBox 6"/>
          <p:cNvSpPr txBox="1"/>
          <p:nvPr/>
        </p:nvSpPr>
        <p:spPr>
          <a:xfrm>
            <a:off x="11365804" y="6492241"/>
            <a:ext cx="155634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800">
                <a:solidFill>
                  <a:srgbClr val="5C6773"/>
                </a:solidFill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TextBox 2"/>
          <p:cNvSpPr txBox="1"/>
          <p:nvPr/>
        </p:nvSpPr>
        <p:spPr>
          <a:xfrm>
            <a:off x="506713" y="266424"/>
            <a:ext cx="4353530" cy="437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600">
                <a:solidFill>
                  <a:srgbClr val="14273F"/>
                </a:solidFill>
              </a:defRPr>
            </a:lvl1pPr>
          </a:lstStyle>
          <a:p>
            <a:pPr/>
            <a:r>
              <a:t>Current Implementation Status</a:t>
            </a:r>
          </a:p>
        </p:txBody>
      </p:sp>
      <p:sp>
        <p:nvSpPr>
          <p:cNvPr id="114" name="TextBox 3"/>
          <p:cNvSpPr txBox="1"/>
          <p:nvPr/>
        </p:nvSpPr>
        <p:spPr>
          <a:xfrm>
            <a:off x="576070" y="868681"/>
            <a:ext cx="2170692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200">
                <a:solidFill>
                  <a:srgbClr val="5E6A75"/>
                </a:solidFill>
              </a:defRPr>
            </a:lvl1pPr>
          </a:lstStyle>
          <a:p>
            <a:pPr/>
            <a:r>
              <a:t>Where the repository stands now</a:t>
            </a:r>
          </a:p>
        </p:txBody>
      </p:sp>
      <p:graphicFrame>
        <p:nvGraphicFramePr>
          <p:cNvPr id="115" name="Table 4"/>
          <p:cNvGraphicFramePr/>
          <p:nvPr/>
        </p:nvGraphicFramePr>
        <p:xfrm>
          <a:off x="594359" y="1143000"/>
          <a:ext cx="10972801" cy="489204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657600"/>
                <a:gridCol w="3657600"/>
                <a:gridCol w="3657600"/>
              </a:tblGrid>
              <a:tr h="698862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427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427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4273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Dataset generation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Working on other synthetic tasks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Now uses config path for copy generation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Training/evaluation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Working on other synthetic tasks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Addition and copy checkpoints/results produced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C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Addition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Baseline complete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Short 2-digit setup shows clear extrapolation failure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Copy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Being redesigned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Old position-wise copy was too easy; delayed copy now implemented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C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Long sequences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In progress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Copy config targets up to 1024 base length / 2049 tokens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69886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Positional encodings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Next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4181C"/>
                          </a:solidFill>
                        </a:rPr>
                        <a:t>Only learned absolute is active so far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16" name="Rectangle 5"/>
          <p:cNvSpPr/>
          <p:nvPr/>
        </p:nvSpPr>
        <p:spPr>
          <a:xfrm>
            <a:off x="502919" y="6446520"/>
            <a:ext cx="11155682" cy="13718"/>
          </a:xfrm>
          <a:prstGeom prst="rect">
            <a:avLst/>
          </a:prstGeom>
          <a:solidFill>
            <a:srgbClr val="DCE1E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TextBox 6"/>
          <p:cNvSpPr txBox="1"/>
          <p:nvPr/>
        </p:nvSpPr>
        <p:spPr>
          <a:xfrm>
            <a:off x="11411525" y="6473953"/>
            <a:ext cx="155633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800">
                <a:solidFill>
                  <a:srgbClr val="5E6A75"/>
                </a:solidFill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ounded Rectangle 24"/>
          <p:cNvSpPr/>
          <p:nvPr/>
        </p:nvSpPr>
        <p:spPr>
          <a:xfrm>
            <a:off x="1074418" y="3703320"/>
            <a:ext cx="4800602" cy="1508762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>
            <a:solidFill>
              <a:srgbClr val="DDE2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TextBox 2"/>
          <p:cNvSpPr txBox="1"/>
          <p:nvPr/>
        </p:nvSpPr>
        <p:spPr>
          <a:xfrm>
            <a:off x="548638" y="320041"/>
            <a:ext cx="3980442" cy="437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600">
                <a:solidFill>
                  <a:srgbClr val="182A45"/>
                </a:solidFill>
              </a:defRPr>
            </a:lvl1pPr>
          </a:lstStyle>
          <a:p>
            <a:pPr/>
            <a:r>
              <a:t>Synthetic Tasks I Plan To Use</a:t>
            </a:r>
          </a:p>
        </p:txBody>
      </p:sp>
      <p:sp>
        <p:nvSpPr>
          <p:cNvPr id="121" name="TextBox 3"/>
          <p:cNvSpPr txBox="1"/>
          <p:nvPr/>
        </p:nvSpPr>
        <p:spPr>
          <a:xfrm>
            <a:off x="576070" y="841248"/>
            <a:ext cx="3131304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200">
                <a:solidFill>
                  <a:srgbClr val="5C6773"/>
                </a:solidFill>
              </a:defRPr>
            </a:lvl1pPr>
          </a:lstStyle>
          <a:p>
            <a:pPr/>
            <a:r>
              <a:t>Each task probes a different kind of length failure</a:t>
            </a:r>
          </a:p>
        </p:txBody>
      </p:sp>
      <p:sp>
        <p:nvSpPr>
          <p:cNvPr id="122" name="Rounded Rectangle 4"/>
          <p:cNvSpPr/>
          <p:nvPr/>
        </p:nvSpPr>
        <p:spPr>
          <a:xfrm>
            <a:off x="685800" y="1234438"/>
            <a:ext cx="2606040" cy="1828802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>
            <a:solidFill>
              <a:srgbClr val="DDE2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TextBox 6"/>
          <p:cNvSpPr txBox="1"/>
          <p:nvPr/>
        </p:nvSpPr>
        <p:spPr>
          <a:xfrm>
            <a:off x="914399" y="1399033"/>
            <a:ext cx="1181469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500">
                <a:solidFill>
                  <a:srgbClr val="182A45"/>
                </a:solidFill>
              </a:defRPr>
            </a:lvl1pPr>
          </a:lstStyle>
          <a:p>
            <a:pPr/>
            <a:r>
              <a:t>Delayed Copy</a:t>
            </a:r>
          </a:p>
        </p:txBody>
      </p:sp>
      <p:sp>
        <p:nvSpPr>
          <p:cNvPr id="124" name="TextBox 7"/>
          <p:cNvSpPr txBox="1"/>
          <p:nvPr/>
        </p:nvSpPr>
        <p:spPr>
          <a:xfrm>
            <a:off x="914399" y="1801367"/>
            <a:ext cx="2194563" cy="6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161A1E"/>
                </a:solidFill>
              </a:defRPr>
            </a:lvl1pPr>
          </a:lstStyle>
          <a:p>
            <a:pPr/>
            <a:r>
              <a:t>Memory over distance: reproduce an earlier sequence after a separator.</a:t>
            </a:r>
          </a:p>
        </p:txBody>
      </p:sp>
      <p:sp>
        <p:nvSpPr>
          <p:cNvPr id="125" name="Rounded Rectangle 8"/>
          <p:cNvSpPr/>
          <p:nvPr/>
        </p:nvSpPr>
        <p:spPr>
          <a:xfrm>
            <a:off x="3520440" y="1234438"/>
            <a:ext cx="2606042" cy="1828802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>
            <a:solidFill>
              <a:srgbClr val="DDE2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TextBox 10"/>
          <p:cNvSpPr txBox="1"/>
          <p:nvPr/>
        </p:nvSpPr>
        <p:spPr>
          <a:xfrm>
            <a:off x="3749040" y="1399033"/>
            <a:ext cx="725124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500">
                <a:solidFill>
                  <a:srgbClr val="182A45"/>
                </a:solidFill>
              </a:defRPr>
            </a:lvl1pPr>
          </a:lstStyle>
          <a:p>
            <a:pPr/>
            <a:r>
              <a:t>Reverse</a:t>
            </a:r>
          </a:p>
        </p:txBody>
      </p:sp>
      <p:sp>
        <p:nvSpPr>
          <p:cNvPr id="127" name="TextBox 11"/>
          <p:cNvSpPr txBox="1"/>
          <p:nvPr/>
        </p:nvSpPr>
        <p:spPr>
          <a:xfrm>
            <a:off x="3749040" y="1801367"/>
            <a:ext cx="2194562" cy="46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161A1E"/>
                </a:solidFill>
              </a:defRPr>
            </a:lvl1pPr>
          </a:lstStyle>
          <a:p>
            <a:pPr/>
            <a:r>
              <a:t>Long-range ordering: output the sequence in reverse order.</a:t>
            </a:r>
          </a:p>
        </p:txBody>
      </p:sp>
      <p:sp>
        <p:nvSpPr>
          <p:cNvPr id="128" name="Rounded Rectangle 12"/>
          <p:cNvSpPr/>
          <p:nvPr/>
        </p:nvSpPr>
        <p:spPr>
          <a:xfrm>
            <a:off x="6355079" y="1234438"/>
            <a:ext cx="2606042" cy="1828802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>
            <a:solidFill>
              <a:srgbClr val="DDE2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extBox 14"/>
          <p:cNvSpPr txBox="1"/>
          <p:nvPr/>
        </p:nvSpPr>
        <p:spPr>
          <a:xfrm>
            <a:off x="6583678" y="1399033"/>
            <a:ext cx="788284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500">
                <a:solidFill>
                  <a:srgbClr val="182A45"/>
                </a:solidFill>
              </a:defRPr>
            </a:lvl1pPr>
          </a:lstStyle>
          <a:p>
            <a:pPr/>
            <a:r>
              <a:t>Addition</a:t>
            </a:r>
          </a:p>
        </p:txBody>
      </p:sp>
      <p:sp>
        <p:nvSpPr>
          <p:cNvPr id="130" name="TextBox 15"/>
          <p:cNvSpPr txBox="1"/>
          <p:nvPr/>
        </p:nvSpPr>
        <p:spPr>
          <a:xfrm>
            <a:off x="6583678" y="1801367"/>
            <a:ext cx="2194562" cy="6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161A1E"/>
                </a:solidFill>
              </a:defRPr>
            </a:lvl1pPr>
          </a:lstStyle>
          <a:p>
            <a:pPr/>
            <a:r>
              <a:t>Algorithmic reasoning: digit-wise addition and carry propagation.</a:t>
            </a:r>
          </a:p>
        </p:txBody>
      </p:sp>
      <p:sp>
        <p:nvSpPr>
          <p:cNvPr id="131" name="Rounded Rectangle 16"/>
          <p:cNvSpPr/>
          <p:nvPr/>
        </p:nvSpPr>
        <p:spPr>
          <a:xfrm>
            <a:off x="9189718" y="1234438"/>
            <a:ext cx="2606042" cy="1828802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>
            <a:solidFill>
              <a:srgbClr val="DDE2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TextBox 18"/>
          <p:cNvSpPr txBox="1"/>
          <p:nvPr/>
        </p:nvSpPr>
        <p:spPr>
          <a:xfrm>
            <a:off x="9418318" y="1399033"/>
            <a:ext cx="1499496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500">
                <a:solidFill>
                  <a:srgbClr val="182A45"/>
                </a:solidFill>
              </a:defRPr>
            </a:lvl1pPr>
          </a:lstStyle>
          <a:p>
            <a:pPr/>
            <a:r>
              <a:t>Associative Recall</a:t>
            </a:r>
          </a:p>
        </p:txBody>
      </p:sp>
      <p:sp>
        <p:nvSpPr>
          <p:cNvPr id="133" name="TextBox 19"/>
          <p:cNvSpPr txBox="1"/>
          <p:nvPr/>
        </p:nvSpPr>
        <p:spPr>
          <a:xfrm>
            <a:off x="9418318" y="1801367"/>
            <a:ext cx="2194563" cy="46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161A1E"/>
                </a:solidFill>
              </a:defRPr>
            </a:lvl1pPr>
          </a:lstStyle>
          <a:p>
            <a:pPr/>
            <a:r>
              <a:t>Retrieval: recover a value linked to a key seen earlier.</a:t>
            </a:r>
          </a:p>
        </p:txBody>
      </p:sp>
      <p:sp>
        <p:nvSpPr>
          <p:cNvPr id="134" name="TextBox 22"/>
          <p:cNvSpPr txBox="1"/>
          <p:nvPr/>
        </p:nvSpPr>
        <p:spPr>
          <a:xfrm>
            <a:off x="1280158" y="3867911"/>
            <a:ext cx="1623396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500">
                <a:solidFill>
                  <a:srgbClr val="182A45"/>
                </a:solidFill>
              </a:defRPr>
            </a:lvl1pPr>
          </a:lstStyle>
          <a:p>
            <a:pPr/>
            <a:r>
              <a:t>Train/Test Principle</a:t>
            </a:r>
          </a:p>
        </p:txBody>
      </p:sp>
      <p:sp>
        <p:nvSpPr>
          <p:cNvPr id="135" name="TextBox 23"/>
          <p:cNvSpPr txBox="1"/>
          <p:nvPr/>
        </p:nvSpPr>
        <p:spPr>
          <a:xfrm>
            <a:off x="1280158" y="4270248"/>
            <a:ext cx="4389122" cy="509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400">
                <a:solidFill>
                  <a:srgbClr val="161A1E"/>
                </a:solidFill>
              </a:defRPr>
            </a:lvl1pPr>
          </a:lstStyle>
          <a:p>
            <a:pPr/>
            <a:r>
              <a:t>Train and validate on short length L; test on L, 2L, 4L, and 8L to measure extrapolation.</a:t>
            </a:r>
          </a:p>
        </p:txBody>
      </p:sp>
      <p:sp>
        <p:nvSpPr>
          <p:cNvPr id="136" name="Rounded Rectangle 24"/>
          <p:cNvSpPr/>
          <p:nvPr/>
        </p:nvSpPr>
        <p:spPr>
          <a:xfrm>
            <a:off x="6309359" y="3703320"/>
            <a:ext cx="4800602" cy="1508762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>
            <a:solidFill>
              <a:srgbClr val="DDE2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TextBox 26"/>
          <p:cNvSpPr txBox="1"/>
          <p:nvPr/>
        </p:nvSpPr>
        <p:spPr>
          <a:xfrm>
            <a:off x="6537959" y="3867911"/>
            <a:ext cx="1667765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500">
                <a:solidFill>
                  <a:srgbClr val="182A45"/>
                </a:solidFill>
              </a:defRPr>
            </a:lvl1pPr>
          </a:lstStyle>
          <a:p>
            <a:pPr/>
            <a:r>
              <a:t>Reason for redesign</a:t>
            </a:r>
          </a:p>
        </p:txBody>
      </p:sp>
      <p:sp>
        <p:nvSpPr>
          <p:cNvPr id="138" name="TextBox 27"/>
          <p:cNvSpPr txBox="1"/>
          <p:nvPr/>
        </p:nvSpPr>
        <p:spPr>
          <a:xfrm>
            <a:off x="6537959" y="4270248"/>
            <a:ext cx="4389122" cy="509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400">
                <a:solidFill>
                  <a:srgbClr val="161A1E"/>
                </a:solidFill>
              </a:defRPr>
            </a:lvl1pPr>
          </a:lstStyle>
          <a:p>
            <a:pPr/>
            <a:r>
              <a:t>Simple copy was too easy, so it was changed to delayed copy to require memory.</a:t>
            </a:r>
          </a:p>
        </p:txBody>
      </p:sp>
      <p:sp>
        <p:nvSpPr>
          <p:cNvPr id="139" name="TextBox 29"/>
          <p:cNvSpPr txBox="1"/>
          <p:nvPr/>
        </p:nvSpPr>
        <p:spPr>
          <a:xfrm>
            <a:off x="11365804" y="6492241"/>
            <a:ext cx="155634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800">
                <a:solidFill>
                  <a:srgbClr val="5C6773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40" name="Q. Are these synthetic task correct to go forward with?"/>
          <p:cNvSpPr txBox="1"/>
          <p:nvPr/>
        </p:nvSpPr>
        <p:spPr>
          <a:xfrm>
            <a:off x="2934964" y="5981892"/>
            <a:ext cx="5167383" cy="3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Q. Are these synthetic task correct to go forward with?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TextBox 2"/>
          <p:cNvSpPr txBox="1"/>
          <p:nvPr/>
        </p:nvSpPr>
        <p:spPr>
          <a:xfrm>
            <a:off x="548638" y="320041"/>
            <a:ext cx="2677861" cy="437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600">
                <a:solidFill>
                  <a:srgbClr val="182A45"/>
                </a:solidFill>
              </a:defRPr>
            </a:lvl1pPr>
          </a:lstStyle>
          <a:p>
            <a:pPr/>
            <a:r>
              <a:t>Experiment Design</a:t>
            </a:r>
          </a:p>
        </p:txBody>
      </p:sp>
      <p:sp>
        <p:nvSpPr>
          <p:cNvPr id="144" name="TextBox 3"/>
          <p:cNvSpPr txBox="1"/>
          <p:nvPr/>
        </p:nvSpPr>
        <p:spPr>
          <a:xfrm>
            <a:off x="576070" y="841248"/>
            <a:ext cx="2206486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200">
                <a:solidFill>
                  <a:srgbClr val="5C6773"/>
                </a:solidFill>
              </a:defRPr>
            </a:lvl1pPr>
          </a:lstStyle>
          <a:p>
            <a:pPr/>
            <a:r>
              <a:t>One common pipeline for all tasks</a:t>
            </a:r>
          </a:p>
        </p:txBody>
      </p:sp>
      <p:grpSp>
        <p:nvGrpSpPr>
          <p:cNvPr id="147" name="Rounded Rectangle 4"/>
          <p:cNvGrpSpPr/>
          <p:nvPr/>
        </p:nvGrpSpPr>
        <p:grpSpPr>
          <a:xfrm>
            <a:off x="731519" y="1874517"/>
            <a:ext cx="1737363" cy="914402"/>
            <a:chOff x="0" y="0"/>
            <a:chExt cx="1737362" cy="914400"/>
          </a:xfrm>
        </p:grpSpPr>
        <p:sp>
          <p:nvSpPr>
            <p:cNvPr id="145" name="Rounded Rectangle"/>
            <p:cNvSpPr/>
            <p:nvPr/>
          </p:nvSpPr>
          <p:spPr>
            <a:xfrm>
              <a:off x="0" y="0"/>
              <a:ext cx="1737363" cy="914401"/>
            </a:xfrm>
            <a:prstGeom prst="roundRect">
              <a:avLst>
                <a:gd name="adj" fmla="val 16667"/>
              </a:avLst>
            </a:prstGeom>
            <a:solidFill>
              <a:srgbClr val="2B609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6" name="Config"/>
            <p:cNvSpPr txBox="1"/>
            <p:nvPr/>
          </p:nvSpPr>
          <p:spPr>
            <a:xfrm>
              <a:off x="90356" y="316800"/>
              <a:ext cx="1556650" cy="2807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400">
                  <a:solidFill>
                    <a:srgbClr val="FFFFFF"/>
                  </a:solidFill>
                </a:defRPr>
              </a:lvl1pPr>
            </a:lstStyle>
            <a:p>
              <a:pPr/>
              <a:r>
                <a:t>Config</a:t>
              </a:r>
            </a:p>
          </p:txBody>
        </p:sp>
      </p:grpSp>
      <p:sp>
        <p:nvSpPr>
          <p:cNvPr id="148" name="Right Arrow 5"/>
          <p:cNvSpPr/>
          <p:nvPr/>
        </p:nvSpPr>
        <p:spPr>
          <a:xfrm>
            <a:off x="2514600" y="2148838"/>
            <a:ext cx="320042" cy="32004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DE2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51" name="Rounded Rectangle 6"/>
          <p:cNvGrpSpPr/>
          <p:nvPr/>
        </p:nvGrpSpPr>
        <p:grpSpPr>
          <a:xfrm>
            <a:off x="2971800" y="1874517"/>
            <a:ext cx="1737362" cy="914402"/>
            <a:chOff x="0" y="0"/>
            <a:chExt cx="1737361" cy="914400"/>
          </a:xfrm>
        </p:grpSpPr>
        <p:sp>
          <p:nvSpPr>
            <p:cNvPr id="149" name="Rounded Rectangle"/>
            <p:cNvSpPr/>
            <p:nvPr/>
          </p:nvSpPr>
          <p:spPr>
            <a:xfrm>
              <a:off x="0" y="0"/>
              <a:ext cx="1737362" cy="914401"/>
            </a:xfrm>
            <a:prstGeom prst="roundRect">
              <a:avLst>
                <a:gd name="adj" fmla="val 16667"/>
              </a:avLst>
            </a:prstGeom>
            <a:solidFill>
              <a:srgbClr val="257E7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0" name="Generate data"/>
            <p:cNvSpPr txBox="1"/>
            <p:nvPr/>
          </p:nvSpPr>
          <p:spPr>
            <a:xfrm>
              <a:off x="90356" y="316800"/>
              <a:ext cx="1556649" cy="2807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400">
                  <a:solidFill>
                    <a:srgbClr val="FFFFFF"/>
                  </a:solidFill>
                </a:defRPr>
              </a:lvl1pPr>
            </a:lstStyle>
            <a:p>
              <a:pPr/>
              <a:r>
                <a:t>Generate data</a:t>
              </a:r>
            </a:p>
          </p:txBody>
        </p:sp>
      </p:grpSp>
      <p:sp>
        <p:nvSpPr>
          <p:cNvPr id="152" name="Right Arrow 7"/>
          <p:cNvSpPr/>
          <p:nvPr/>
        </p:nvSpPr>
        <p:spPr>
          <a:xfrm>
            <a:off x="4754879" y="2148838"/>
            <a:ext cx="320042" cy="32004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DE2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55" name="Rounded Rectangle 8"/>
          <p:cNvGrpSpPr/>
          <p:nvPr/>
        </p:nvGrpSpPr>
        <p:grpSpPr>
          <a:xfrm>
            <a:off x="5212079" y="1874517"/>
            <a:ext cx="1737363" cy="914402"/>
            <a:chOff x="0" y="0"/>
            <a:chExt cx="1737361" cy="914400"/>
          </a:xfrm>
        </p:grpSpPr>
        <p:sp>
          <p:nvSpPr>
            <p:cNvPr id="153" name="Rounded Rectangle"/>
            <p:cNvSpPr/>
            <p:nvPr/>
          </p:nvSpPr>
          <p:spPr>
            <a:xfrm>
              <a:off x="0" y="0"/>
              <a:ext cx="1737362" cy="914401"/>
            </a:xfrm>
            <a:prstGeom prst="roundRect">
              <a:avLst>
                <a:gd name="adj" fmla="val 16667"/>
              </a:avLst>
            </a:prstGeom>
            <a:solidFill>
              <a:srgbClr val="4A915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4" name="Train short"/>
            <p:cNvSpPr txBox="1"/>
            <p:nvPr/>
          </p:nvSpPr>
          <p:spPr>
            <a:xfrm>
              <a:off x="90356" y="316800"/>
              <a:ext cx="1556649" cy="2807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400">
                  <a:solidFill>
                    <a:srgbClr val="FFFFFF"/>
                  </a:solidFill>
                </a:defRPr>
              </a:lvl1pPr>
            </a:lstStyle>
            <a:p>
              <a:pPr/>
              <a:r>
                <a:t>Train short</a:t>
              </a:r>
            </a:p>
          </p:txBody>
        </p:sp>
      </p:grpSp>
      <p:sp>
        <p:nvSpPr>
          <p:cNvPr id="156" name="Right Arrow 9"/>
          <p:cNvSpPr/>
          <p:nvPr/>
        </p:nvSpPr>
        <p:spPr>
          <a:xfrm>
            <a:off x="6995159" y="2148838"/>
            <a:ext cx="320042" cy="32004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DE2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59" name="Rounded Rectangle 10"/>
          <p:cNvGrpSpPr/>
          <p:nvPr/>
        </p:nvGrpSpPr>
        <p:grpSpPr>
          <a:xfrm>
            <a:off x="7452359" y="1874517"/>
            <a:ext cx="1737363" cy="914402"/>
            <a:chOff x="0" y="0"/>
            <a:chExt cx="1737361" cy="914400"/>
          </a:xfrm>
        </p:grpSpPr>
        <p:sp>
          <p:nvSpPr>
            <p:cNvPr id="157" name="Rounded Rectangle"/>
            <p:cNvSpPr/>
            <p:nvPr/>
          </p:nvSpPr>
          <p:spPr>
            <a:xfrm>
              <a:off x="0" y="0"/>
              <a:ext cx="1737362" cy="914401"/>
            </a:xfrm>
            <a:prstGeom prst="roundRect">
              <a:avLst>
                <a:gd name="adj" fmla="val 16667"/>
              </a:avLst>
            </a:prstGeom>
            <a:solidFill>
              <a:srgbClr val="C97B34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8" name="Test long"/>
            <p:cNvSpPr txBox="1"/>
            <p:nvPr/>
          </p:nvSpPr>
          <p:spPr>
            <a:xfrm>
              <a:off x="90356" y="316800"/>
              <a:ext cx="1556649" cy="2807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400">
                  <a:solidFill>
                    <a:srgbClr val="FFFFFF"/>
                  </a:solidFill>
                </a:defRPr>
              </a:lvl1pPr>
            </a:lstStyle>
            <a:p>
              <a:pPr/>
              <a:r>
                <a:t>Test long</a:t>
              </a:r>
            </a:p>
          </p:txBody>
        </p:sp>
      </p:grpSp>
      <p:sp>
        <p:nvSpPr>
          <p:cNvPr id="160" name="Right Arrow 11"/>
          <p:cNvSpPr/>
          <p:nvPr/>
        </p:nvSpPr>
        <p:spPr>
          <a:xfrm>
            <a:off x="9235440" y="2148838"/>
            <a:ext cx="320042" cy="32004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DE2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63" name="Rounded Rectangle 12"/>
          <p:cNvGrpSpPr/>
          <p:nvPr/>
        </p:nvGrpSpPr>
        <p:grpSpPr>
          <a:xfrm>
            <a:off x="9692640" y="1874517"/>
            <a:ext cx="1737363" cy="914402"/>
            <a:chOff x="0" y="0"/>
            <a:chExt cx="1737361" cy="914400"/>
          </a:xfrm>
        </p:grpSpPr>
        <p:sp>
          <p:nvSpPr>
            <p:cNvPr id="161" name="Rounded Rectangle"/>
            <p:cNvSpPr/>
            <p:nvPr/>
          </p:nvSpPr>
          <p:spPr>
            <a:xfrm>
              <a:off x="0" y="0"/>
              <a:ext cx="1737362" cy="914401"/>
            </a:xfrm>
            <a:prstGeom prst="roundRect">
              <a:avLst>
                <a:gd name="adj" fmla="val 16667"/>
              </a:avLst>
            </a:prstGeom>
            <a:solidFill>
              <a:srgbClr val="AB494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2" name="Analyse"/>
            <p:cNvSpPr txBox="1"/>
            <p:nvPr/>
          </p:nvSpPr>
          <p:spPr>
            <a:xfrm>
              <a:off x="90356" y="316800"/>
              <a:ext cx="1556649" cy="2807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400">
                  <a:solidFill>
                    <a:srgbClr val="FFFFFF"/>
                  </a:solidFill>
                </a:defRPr>
              </a:lvl1pPr>
            </a:lstStyle>
            <a:p>
              <a:pPr/>
              <a:r>
                <a:t>Analyse</a:t>
              </a:r>
            </a:p>
          </p:txBody>
        </p:sp>
      </p:grpSp>
      <p:sp>
        <p:nvSpPr>
          <p:cNvPr id="164" name="TextBox 13"/>
          <p:cNvSpPr txBox="1"/>
          <p:nvPr/>
        </p:nvSpPr>
        <p:spPr>
          <a:xfrm>
            <a:off x="1005839" y="3657600"/>
            <a:ext cx="10241282" cy="678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800"/>
              </a:spcBef>
              <a:defRPr sz="1700">
                <a:solidFill>
                  <a:srgbClr val="161A1E"/>
                </a:solidFill>
              </a:defRPr>
            </a:pPr>
            <a:r>
              <a:t>Current pipeline uses config files so the same code can run copy, addition, and later reverse/associative recall.</a:t>
            </a:r>
          </a:p>
          <a:p>
            <a:pPr>
              <a:spcBef>
                <a:spcPts val="800"/>
              </a:spcBef>
              <a:defRPr sz="1700">
                <a:solidFill>
                  <a:srgbClr val="161A1E"/>
                </a:solidFill>
              </a:defRPr>
            </a:pPr>
            <a:r>
              <a:t>The key rule is train on short sequences, then evaluate on longer unseen lengths without using them for training.</a:t>
            </a:r>
          </a:p>
        </p:txBody>
      </p:sp>
      <p:sp>
        <p:nvSpPr>
          <p:cNvPr id="165" name="Rectangle 14"/>
          <p:cNvSpPr/>
          <p:nvPr/>
        </p:nvSpPr>
        <p:spPr>
          <a:xfrm>
            <a:off x="502919" y="6454800"/>
            <a:ext cx="11155682" cy="12702"/>
          </a:xfrm>
          <a:prstGeom prst="rect">
            <a:avLst/>
          </a:prstGeom>
          <a:solidFill>
            <a:srgbClr val="DDE2E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TextBox 15"/>
          <p:cNvSpPr txBox="1"/>
          <p:nvPr/>
        </p:nvSpPr>
        <p:spPr>
          <a:xfrm>
            <a:off x="11365804" y="6492241"/>
            <a:ext cx="155634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800">
                <a:solidFill>
                  <a:srgbClr val="5C6773"/>
                </a:solidFill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TextBox 2"/>
          <p:cNvSpPr txBox="1"/>
          <p:nvPr/>
        </p:nvSpPr>
        <p:spPr>
          <a:xfrm>
            <a:off x="548638" y="320041"/>
            <a:ext cx="2865211" cy="437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600">
                <a:solidFill>
                  <a:srgbClr val="182A45"/>
                </a:solidFill>
              </a:defRPr>
            </a:lvl1pPr>
          </a:lstStyle>
          <a:p>
            <a:pPr/>
            <a:r>
              <a:t>Results For Addition</a:t>
            </a:r>
          </a:p>
        </p:txBody>
      </p:sp>
      <p:graphicFrame>
        <p:nvGraphicFramePr>
          <p:cNvPr id="170" name="Chart 4"/>
          <p:cNvGraphicFramePr/>
          <p:nvPr/>
        </p:nvGraphicFramePr>
        <p:xfrm>
          <a:off x="536135" y="1422225"/>
          <a:ext cx="5477814" cy="3935467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71" name="Table 5"/>
          <p:cNvGraphicFramePr/>
          <p:nvPr/>
        </p:nvGraphicFramePr>
        <p:xfrm>
          <a:off x="6492240" y="1417319"/>
          <a:ext cx="4663442" cy="214884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554480"/>
                <a:gridCol w="1554480"/>
                <a:gridCol w="1554480"/>
              </a:tblGrid>
              <a:tr h="35814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Addition test length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8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Token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8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Exact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82A45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100.0%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100.0%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3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30.1%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0.8%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25.1%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0.0%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5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26.8%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0.0%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21.9%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0.0%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2" name="TextBox 8"/>
          <p:cNvSpPr txBox="1"/>
          <p:nvPr/>
        </p:nvSpPr>
        <p:spPr>
          <a:xfrm>
            <a:off x="6720839" y="4142231"/>
            <a:ext cx="1219048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500">
                <a:solidFill>
                  <a:srgbClr val="182A45"/>
                </a:solidFill>
              </a:defRPr>
            </a:lvl1pPr>
          </a:lstStyle>
          <a:p>
            <a:pPr/>
            <a:r>
              <a:t>Interpretation</a:t>
            </a:r>
          </a:p>
        </p:txBody>
      </p:sp>
      <p:sp>
        <p:nvSpPr>
          <p:cNvPr id="173" name="TextBox 9"/>
          <p:cNvSpPr txBox="1"/>
          <p:nvPr/>
        </p:nvSpPr>
        <p:spPr>
          <a:xfrm>
            <a:off x="6720839" y="4544568"/>
            <a:ext cx="4251962" cy="46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161A1E"/>
                </a:solidFill>
              </a:defRPr>
            </a:lvl1pPr>
          </a:lstStyle>
          <a:p>
            <a:pPr/>
            <a:r>
              <a:t>Addition learned length 2 perfectly, but performance collapsed at longer lengths.</a:t>
            </a:r>
          </a:p>
        </p:txBody>
      </p:sp>
      <p:sp>
        <p:nvSpPr>
          <p:cNvPr id="174" name="TextBox 11"/>
          <p:cNvSpPr txBox="1"/>
          <p:nvPr/>
        </p:nvSpPr>
        <p:spPr>
          <a:xfrm>
            <a:off x="11365804" y="6492241"/>
            <a:ext cx="155634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800">
                <a:solidFill>
                  <a:srgbClr val="5C6773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2"/>
          <p:cNvSpPr txBox="1"/>
          <p:nvPr/>
        </p:nvSpPr>
        <p:spPr>
          <a:xfrm>
            <a:off x="548639" y="320041"/>
            <a:ext cx="4003981" cy="437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600">
                <a:solidFill>
                  <a:srgbClr val="182A45"/>
                </a:solidFill>
              </a:defRPr>
            </a:lvl1pPr>
          </a:lstStyle>
          <a:p>
            <a:pPr/>
            <a:r>
              <a:t>Important Design Correction</a:t>
            </a:r>
          </a:p>
        </p:txBody>
      </p:sp>
      <p:sp>
        <p:nvSpPr>
          <p:cNvPr id="178" name="TextBox 3"/>
          <p:cNvSpPr txBox="1"/>
          <p:nvPr/>
        </p:nvSpPr>
        <p:spPr>
          <a:xfrm>
            <a:off x="576071" y="841248"/>
            <a:ext cx="2920636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200">
                <a:solidFill>
                  <a:srgbClr val="5C6773"/>
                </a:solidFill>
              </a:defRPr>
            </a:lvl1pPr>
          </a:lstStyle>
          <a:p>
            <a:pPr/>
            <a:r>
              <a:t>What changed after the first copy experiment</a:t>
            </a:r>
          </a:p>
        </p:txBody>
      </p:sp>
      <p:sp>
        <p:nvSpPr>
          <p:cNvPr id="179" name="Rounded Rectangle 4"/>
          <p:cNvSpPr/>
          <p:nvPr/>
        </p:nvSpPr>
        <p:spPr>
          <a:xfrm>
            <a:off x="731519" y="1280160"/>
            <a:ext cx="3337562" cy="201168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>
            <a:solidFill>
              <a:srgbClr val="DDE2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Rectangle 5"/>
          <p:cNvSpPr/>
          <p:nvPr/>
        </p:nvSpPr>
        <p:spPr>
          <a:xfrm>
            <a:off x="731519" y="1280160"/>
            <a:ext cx="73154" cy="2011680"/>
          </a:xfrm>
          <a:prstGeom prst="rect">
            <a:avLst/>
          </a:prstGeom>
          <a:solidFill>
            <a:srgbClr val="2B609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TextBox 6"/>
          <p:cNvSpPr txBox="1"/>
          <p:nvPr/>
        </p:nvSpPr>
        <p:spPr>
          <a:xfrm>
            <a:off x="960119" y="1444750"/>
            <a:ext cx="797678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500">
                <a:solidFill>
                  <a:srgbClr val="182A45"/>
                </a:solidFill>
              </a:defRPr>
            </a:lvl1pPr>
          </a:lstStyle>
          <a:p>
            <a:pPr/>
            <a:r>
              <a:t>Old copy</a:t>
            </a:r>
          </a:p>
        </p:txBody>
      </p:sp>
      <p:sp>
        <p:nvSpPr>
          <p:cNvPr id="182" name="TextBox 7"/>
          <p:cNvSpPr txBox="1"/>
          <p:nvPr/>
        </p:nvSpPr>
        <p:spPr>
          <a:xfrm>
            <a:off x="960118" y="1847089"/>
            <a:ext cx="2926084" cy="664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161A1E"/>
                </a:solidFill>
              </a:defRPr>
            </a:lvl1pPr>
          </a:lstStyle>
          <a:p>
            <a:pPr/>
            <a:r>
              <a:t>Input and target were identical at each position, so the model reached 100% up to length 1024.</a:t>
            </a:r>
          </a:p>
        </p:txBody>
      </p:sp>
      <p:sp>
        <p:nvSpPr>
          <p:cNvPr id="183" name="Rounded Rectangle 8"/>
          <p:cNvSpPr/>
          <p:nvPr/>
        </p:nvSpPr>
        <p:spPr>
          <a:xfrm>
            <a:off x="4434840" y="1280160"/>
            <a:ext cx="3337560" cy="201168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>
            <a:solidFill>
              <a:srgbClr val="DDE2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Rectangle 9"/>
          <p:cNvSpPr/>
          <p:nvPr/>
        </p:nvSpPr>
        <p:spPr>
          <a:xfrm>
            <a:off x="4434840" y="1280160"/>
            <a:ext cx="73154" cy="2011680"/>
          </a:xfrm>
          <a:prstGeom prst="rect">
            <a:avLst/>
          </a:prstGeom>
          <a:solidFill>
            <a:srgbClr val="AB494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TextBox 10"/>
          <p:cNvSpPr txBox="1"/>
          <p:nvPr/>
        </p:nvSpPr>
        <p:spPr>
          <a:xfrm>
            <a:off x="4663440" y="1444750"/>
            <a:ext cx="773214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500">
                <a:solidFill>
                  <a:srgbClr val="182A45"/>
                </a:solidFill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186" name="TextBox 11"/>
          <p:cNvSpPr txBox="1"/>
          <p:nvPr/>
        </p:nvSpPr>
        <p:spPr>
          <a:xfrm>
            <a:off x="4663440" y="1847089"/>
            <a:ext cx="2926082" cy="461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161A1E"/>
                </a:solidFill>
              </a:defRPr>
            </a:lvl1pPr>
          </a:lstStyle>
          <a:p>
            <a:pPr/>
            <a:r>
              <a:t>That version tested local identity mapping, not long-range memory.</a:t>
            </a:r>
          </a:p>
        </p:txBody>
      </p:sp>
      <p:sp>
        <p:nvSpPr>
          <p:cNvPr id="187" name="Rounded Rectangle 12"/>
          <p:cNvSpPr/>
          <p:nvPr/>
        </p:nvSpPr>
        <p:spPr>
          <a:xfrm>
            <a:off x="8138159" y="1280160"/>
            <a:ext cx="3337562" cy="201168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>
            <a:solidFill>
              <a:srgbClr val="DDE2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Rectangle 13"/>
          <p:cNvSpPr/>
          <p:nvPr/>
        </p:nvSpPr>
        <p:spPr>
          <a:xfrm>
            <a:off x="8138159" y="1280160"/>
            <a:ext cx="73154" cy="2011680"/>
          </a:xfrm>
          <a:prstGeom prst="rect">
            <a:avLst/>
          </a:prstGeom>
          <a:solidFill>
            <a:srgbClr val="4A91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TextBox 14"/>
          <p:cNvSpPr txBox="1"/>
          <p:nvPr/>
        </p:nvSpPr>
        <p:spPr>
          <a:xfrm>
            <a:off x="8366759" y="1444750"/>
            <a:ext cx="325893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500">
                <a:solidFill>
                  <a:srgbClr val="182A45"/>
                </a:solidFill>
              </a:defRPr>
            </a:lvl1pPr>
          </a:lstStyle>
          <a:p>
            <a:pPr/>
            <a:r>
              <a:t>Fix</a:t>
            </a:r>
          </a:p>
        </p:txBody>
      </p:sp>
      <p:sp>
        <p:nvSpPr>
          <p:cNvPr id="190" name="TextBox 15"/>
          <p:cNvSpPr txBox="1"/>
          <p:nvPr/>
        </p:nvSpPr>
        <p:spPr>
          <a:xfrm>
            <a:off x="8366759" y="1847089"/>
            <a:ext cx="2926082" cy="664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161A1E"/>
                </a:solidFill>
              </a:defRPr>
            </a:lvl1pPr>
          </a:lstStyle>
          <a:p>
            <a:pPr/>
            <a:r>
              <a:t>Use delayed copy: sequence + separator + blanks, then reproduce the sequence after the separator.</a:t>
            </a:r>
          </a:p>
        </p:txBody>
      </p:sp>
      <p:sp>
        <p:nvSpPr>
          <p:cNvPr id="191" name="Rounded Rectangle 16"/>
          <p:cNvSpPr/>
          <p:nvPr/>
        </p:nvSpPr>
        <p:spPr>
          <a:xfrm>
            <a:off x="1417319" y="3977637"/>
            <a:ext cx="9326882" cy="1005842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>
            <a:solidFill>
              <a:srgbClr val="DDE2E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17"/>
          <p:cNvSpPr txBox="1"/>
          <p:nvPr/>
        </p:nvSpPr>
        <p:spPr>
          <a:xfrm>
            <a:off x="1737359" y="4224529"/>
            <a:ext cx="5027460" cy="574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700">
                <a:solidFill>
                  <a:srgbClr val="182A4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input  = [x1 ... xL, SEP, PAD ... PAD]</a:t>
            </a:r>
            <a:br/>
            <a:r>
              <a:t>target = [PAD ... PAD, PAD, x1 ... xL]</a:t>
            </a:r>
          </a:p>
        </p:txBody>
      </p:sp>
      <p:sp>
        <p:nvSpPr>
          <p:cNvPr id="193" name="TextBox 19"/>
          <p:cNvSpPr txBox="1"/>
          <p:nvPr/>
        </p:nvSpPr>
        <p:spPr>
          <a:xfrm>
            <a:off x="11365804" y="6492241"/>
            <a:ext cx="155634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800">
                <a:solidFill>
                  <a:srgbClr val="5C6773"/>
                </a:solidFill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TextBox 2"/>
          <p:cNvSpPr txBox="1"/>
          <p:nvPr/>
        </p:nvSpPr>
        <p:spPr>
          <a:xfrm>
            <a:off x="548639" y="320040"/>
            <a:ext cx="4560713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600">
                <a:solidFill>
                  <a:srgbClr val="182A45"/>
                </a:solidFill>
              </a:defRPr>
            </a:lvl1pPr>
          </a:lstStyle>
          <a:p>
            <a:pPr/>
            <a:r>
              <a:t>Completed Result: Delayed Copy</a:t>
            </a:r>
          </a:p>
        </p:txBody>
      </p:sp>
      <p:sp>
        <p:nvSpPr>
          <p:cNvPr id="197" name="TextBox 3"/>
          <p:cNvSpPr txBox="1"/>
          <p:nvPr/>
        </p:nvSpPr>
        <p:spPr>
          <a:xfrm>
            <a:off x="576071" y="841247"/>
            <a:ext cx="6103478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>
                <a:solidFill>
                  <a:srgbClr val="5C6773"/>
                </a:solidFill>
              </a:defRPr>
            </a:lvl1pPr>
          </a:lstStyle>
          <a:p>
            <a:pPr/>
            <a:r>
              <a:t>Train length 128; tested on 128, 256, 512, and 1024 with learned absolute positional embeddings</a:t>
            </a:r>
          </a:p>
        </p:txBody>
      </p:sp>
      <p:graphicFrame>
        <p:nvGraphicFramePr>
          <p:cNvPr id="198" name="Chart 4"/>
          <p:cNvGraphicFramePr/>
          <p:nvPr/>
        </p:nvGraphicFramePr>
        <p:xfrm>
          <a:off x="651998" y="1376506"/>
          <a:ext cx="5555127" cy="403100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99" name="Table 5"/>
          <p:cNvGraphicFramePr/>
          <p:nvPr/>
        </p:nvGraphicFramePr>
        <p:xfrm>
          <a:off x="6629400" y="1371600"/>
          <a:ext cx="4343400" cy="210312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447800"/>
                <a:gridCol w="1447800"/>
                <a:gridCol w="1447800"/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Test Length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8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Token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8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000">
                          <a:solidFill>
                            <a:srgbClr val="FFFFFF"/>
                          </a:solidFill>
                        </a:rPr>
                        <a:t>Exact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82A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128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49.56%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0.0%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256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0.62%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0.0%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512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0.57%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0.0%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1024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0.52%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000">
                          <a:solidFill>
                            <a:srgbClr val="161A1E"/>
                          </a:solidFill>
                        </a:rPr>
                        <a:t>0.0%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200" name="TextBox 8"/>
          <p:cNvSpPr txBox="1"/>
          <p:nvPr/>
        </p:nvSpPr>
        <p:spPr>
          <a:xfrm>
            <a:off x="6858000" y="3941064"/>
            <a:ext cx="1374389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500">
                <a:solidFill>
                  <a:srgbClr val="182A45"/>
                </a:solidFill>
              </a:defRPr>
            </a:lvl1pPr>
          </a:lstStyle>
          <a:p>
            <a:pPr/>
            <a:r>
              <a:t>Key observation</a:t>
            </a:r>
          </a:p>
        </p:txBody>
      </p:sp>
      <p:sp>
        <p:nvSpPr>
          <p:cNvPr id="201" name="TextBox 9"/>
          <p:cNvSpPr txBox="1"/>
          <p:nvPr/>
        </p:nvSpPr>
        <p:spPr>
          <a:xfrm>
            <a:off x="6858000" y="4182798"/>
            <a:ext cx="3931920" cy="629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61A1E"/>
                </a:solidFill>
              </a:defRPr>
            </a:lvl1pPr>
          </a:lstStyle>
          <a:p>
            <a:pPr/>
            <a:r>
              <a:t>The redesigned copy task no longer behaves like a trivial identity task. Performance drops sharply beyond the training length.</a:t>
            </a:r>
          </a:p>
        </p:txBody>
      </p:sp>
      <p:sp>
        <p:nvSpPr>
          <p:cNvPr id="202" name="TextBox 12"/>
          <p:cNvSpPr txBox="1"/>
          <p:nvPr/>
        </p:nvSpPr>
        <p:spPr>
          <a:xfrm>
            <a:off x="6858000" y="5129784"/>
            <a:ext cx="1219049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500">
                <a:solidFill>
                  <a:srgbClr val="182A45"/>
                </a:solidFill>
              </a:defRPr>
            </a:lvl1pPr>
          </a:lstStyle>
          <a:p>
            <a:pPr/>
            <a:r>
              <a:t>Interpretation</a:t>
            </a:r>
          </a:p>
        </p:txBody>
      </p:sp>
      <p:sp>
        <p:nvSpPr>
          <p:cNvPr id="203" name="TextBox 13"/>
          <p:cNvSpPr txBox="1"/>
          <p:nvPr/>
        </p:nvSpPr>
        <p:spPr>
          <a:xfrm>
            <a:off x="6858000" y="5414049"/>
            <a:ext cx="3931920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61A1E"/>
                </a:solidFill>
              </a:defRPr>
            </a:lvl1pPr>
          </a:lstStyle>
          <a:p>
            <a:pPr/>
            <a:r>
              <a:t>This is now a useful stress test for long-range memory and length extrapolation.</a:t>
            </a:r>
          </a:p>
        </p:txBody>
      </p:sp>
      <p:sp>
        <p:nvSpPr>
          <p:cNvPr id="204" name="TextBox 15"/>
          <p:cNvSpPr txBox="1"/>
          <p:nvPr/>
        </p:nvSpPr>
        <p:spPr>
          <a:xfrm>
            <a:off x="11365805" y="6492240"/>
            <a:ext cx="155636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800">
                <a:solidFill>
                  <a:srgbClr val="5C6773"/>
                </a:solidFill>
              </a:defRPr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TextBox 2"/>
          <p:cNvSpPr txBox="1"/>
          <p:nvPr/>
        </p:nvSpPr>
        <p:spPr>
          <a:xfrm>
            <a:off x="548638" y="320041"/>
            <a:ext cx="2804105" cy="437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600">
                <a:solidFill>
                  <a:srgbClr val="182A45"/>
                </a:solidFill>
              </a:defRPr>
            </a:lvl1pPr>
          </a:lstStyle>
          <a:p>
            <a:pPr/>
            <a:r>
              <a:t>Steps and Feedback</a:t>
            </a:r>
          </a:p>
        </p:txBody>
      </p:sp>
      <p:graphicFrame>
        <p:nvGraphicFramePr>
          <p:cNvPr id="208" name="Table 4"/>
          <p:cNvGraphicFramePr/>
          <p:nvPr/>
        </p:nvGraphicFramePr>
        <p:xfrm>
          <a:off x="685800" y="1234438"/>
          <a:ext cx="10789921" cy="2678697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596640"/>
                <a:gridCol w="3596640"/>
                <a:gridCol w="3596640"/>
              </a:tblGrid>
              <a:tr h="535739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8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82A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Reason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182A45"/>
                    </a:solidFill>
                  </a:tcPr>
                </a:tc>
              </a:tr>
              <a:tr h="53573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Run delayed-copy training/evaluation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Check if revised copy reveals length failure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53573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Redesign addition for long digit sequences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Move from 2-6 digits to 128-1024+ digits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</a:tr>
              <a:tr h="53573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Then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Add positional encoding variants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Learned vs sinusoidal vs NoPE vs ALiBi vs RoPE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FFF"/>
                    </a:solidFill>
                  </a:tcPr>
                </a:tc>
              </a:tr>
              <a:tr h="53573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Later Week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Repeat across tasks and seeds; Mitigation experiments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161A1E"/>
                          </a:solidFill>
                        </a:rPr>
                        <a:t>Compare failure patterns across task types; Chunking, length-randomised training, recurrence-inspired strategies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209" name="TextBox 8"/>
          <p:cNvSpPr txBox="1"/>
          <p:nvPr/>
        </p:nvSpPr>
        <p:spPr>
          <a:xfrm>
            <a:off x="1311909" y="4389872"/>
            <a:ext cx="9555482" cy="178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700">
                <a:solidFill>
                  <a:srgbClr val="161A1E"/>
                </a:solidFill>
              </a:defRPr>
            </a:pPr>
            <a:r>
              <a:t>Q1. Is the task set and train-short/test-long protocol appropriate before I scale the experiments?</a:t>
            </a:r>
          </a:p>
          <a:p>
            <a:pPr>
              <a:spcBef>
                <a:spcPts val="600"/>
              </a:spcBef>
              <a:defRPr>
                <a:solidFill>
                  <a:srgbClr val="14181C"/>
                </a:solidFill>
              </a:defRPr>
            </a:pPr>
            <a:r>
              <a:t>Q2. Should delayed copy replace the original simple copy task in the final experimental suite?</a:t>
            </a:r>
          </a:p>
          <a:p>
            <a:pPr>
              <a:spcBef>
                <a:spcPts val="600"/>
              </a:spcBef>
              <a:defRPr>
                <a:solidFill>
                  <a:srgbClr val="14181C"/>
                </a:solidFill>
              </a:defRPr>
            </a:pPr>
            <a:r>
              <a:t>Q3. What maximum sequence length should be targeted first: 1024, 2048, or higher on AWS?</a:t>
            </a:r>
          </a:p>
          <a:p>
            <a:pPr>
              <a:spcBef>
                <a:spcPts val="600"/>
              </a:spcBef>
              <a:defRPr>
                <a:solidFill>
                  <a:srgbClr val="14181C"/>
                </a:solidFill>
              </a:defRPr>
            </a:pPr>
            <a:r>
              <a:t>Q4. For Week 7, is the priority breadth across tasks or depth across positional encodings and seeds?</a:t>
            </a:r>
          </a:p>
          <a:p>
            <a:pPr>
              <a:spcBef>
                <a:spcPts val="600"/>
              </a:spcBef>
              <a:defRPr>
                <a:solidFill>
                  <a:srgbClr val="14181C"/>
                </a:solidFill>
              </a:defRPr>
            </a:pPr>
            <a:r>
              <a:t>Q5. Which diagnostic plots would be most valuable for the dissertation narrative?</a:t>
            </a:r>
          </a:p>
        </p:txBody>
      </p:sp>
      <p:sp>
        <p:nvSpPr>
          <p:cNvPr id="210" name="TextBox 10"/>
          <p:cNvSpPr txBox="1"/>
          <p:nvPr/>
        </p:nvSpPr>
        <p:spPr>
          <a:xfrm>
            <a:off x="11314313" y="6492241"/>
            <a:ext cx="207128" cy="19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800">
                <a:solidFill>
                  <a:srgbClr val="5C6773"/>
                </a:solidFill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