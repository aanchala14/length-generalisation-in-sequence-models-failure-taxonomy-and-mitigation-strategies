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" name="Shape 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update supervisor on what has changed since the previous deck.</a:t>
            </a:r>
          </a:p>
          <a:p>
            <a:pPr/>
            <a:r>
              <a:t>[Sources] Local project outputs: multiseed results, attention analysis, mitigation summary, failure taxonomy.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" name="Shape 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this slide to remind the professor why the experimental design changed from simple copy to delayed copy and longer lengths.</a:t>
            </a:r>
          </a:p>
          <a:p>
            <a:pPr/>
            <a:r>
              <a:t>[Sources] Project_time_plan.docx, outputs/results/multiseed_results, outputs/analysis.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" name="Shape 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slide answers the robustness requirement: the matrix is not a one-off run.</a:t>
            </a:r>
          </a:p>
          <a:p>
            <a:pPr/>
            <a:r>
              <a:t>[Sources] outputs/results/multiseed_results; outputs/plots/multiseed/multiseed_summary.csv.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Main result: high in-distribution accuracy does not imply extrapolation.</a:t>
            </a:r>
          </a:p>
          <a:p>
            <a:pPr/>
            <a:r>
              <a:t>[Sources] outputs/plots/multiseed/*_exact_degradation_mean_se.png.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" name="Shape 1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directly addresses the supervisor note about ALiBi and NoPE: they often fail as underfitting cases, not pure extrapolation cases.</a:t>
            </a:r>
          </a:p>
          <a:p>
            <a:pPr/>
            <a:r>
              <a:t>[Sources] outputs/plots/multiseed/exact_at_train_mean_se.png; exact_at_longest_mean_se.png.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0" name="Shape 1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slide frames robustness as part of the methodology, not an afterthought.</a:t>
            </a:r>
          </a:p>
          <a:p>
            <a:pPr/>
            <a:r>
              <a:t>[Sources] outputs/plots/multiseed/multiseed_summary.csv; generalisation_gap_mean.png.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Shape 1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this slide for the 'why' story: failure is accompanied by changed attention behaviour, not only lower accuracy.</a:t>
            </a:r>
          </a:p>
          <a:p>
            <a:pPr/>
            <a:r>
              <a:t>[Sources] outputs/analysis/attention_summary/attention_with_accuracy.csv and entropy plots.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Week 8 mitigation result. The key message is not that the work failed, but that simple mitigation is insufficient.</a:t>
            </a:r>
          </a:p>
          <a:p>
            <a:pPr/>
            <a:r>
              <a:t>[Sources] outputs/analysis/mitigation_summary/mitigation_summary.csv and mitigation_exact_train_vs_1024.png.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Shape 1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bridge from results into dissertation discussion. It helps structure the answer, not only present numbers.</a:t>
            </a:r>
          </a:p>
          <a:p>
            <a:pPr/>
            <a:r>
              <a:t>[Sources] outputs/analysis/failure_taxonomy/failure_taxonomy_compact.csv.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Shape 1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slide is useful if the professor asks what is new compared with the previous PPT.</a:t>
            </a:r>
          </a:p>
          <a:p>
            <a:pPr/>
            <a:r>
              <a:t>[Sources] Local code and outputs generated since the August 5 deck.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ROJECT UPDATE"/>
          <p:cNvSpPr txBox="1"/>
          <p:nvPr/>
        </p:nvSpPr>
        <p:spPr>
          <a:xfrm>
            <a:off x="655319" y="552450"/>
            <a:ext cx="2385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2E86AB"/>
                </a:solidFill>
              </a:defRPr>
            </a:lvl1pPr>
          </a:lstStyle>
          <a:p>
            <a:pPr/>
            <a:r>
              <a:t>PROJECT UPDATE</a:t>
            </a:r>
          </a:p>
        </p:txBody>
      </p:sp>
      <p:sp>
        <p:nvSpPr>
          <p:cNvPr id="21" name="Length generalisation in sequence models"/>
          <p:cNvSpPr txBox="1"/>
          <p:nvPr/>
        </p:nvSpPr>
        <p:spPr>
          <a:xfrm>
            <a:off x="655319" y="1219200"/>
            <a:ext cx="7052312" cy="1201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900">
                <a:solidFill>
                  <a:srgbClr val="172033"/>
                </a:solidFill>
              </a:defRPr>
            </a:lvl1pPr>
          </a:lstStyle>
          <a:p>
            <a:pPr/>
            <a:r>
              <a:t>Length generalisation in sequence models</a:t>
            </a:r>
          </a:p>
        </p:txBody>
      </p:sp>
      <p:sp>
        <p:nvSpPr>
          <p:cNvPr id="22" name="update: experiment matrix, failure analysis, mitigation results, and taxonomy"/>
          <p:cNvSpPr txBox="1"/>
          <p:nvPr/>
        </p:nvSpPr>
        <p:spPr>
          <a:xfrm>
            <a:off x="655319" y="3143250"/>
            <a:ext cx="6861812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5C667A"/>
                </a:solidFill>
              </a:defRPr>
            </a:lvl1pPr>
          </a:lstStyle>
          <a:p>
            <a:pPr/>
            <a:r>
              <a:t>update: experiment matrix, failure analysis, mitigation results, and taxonomy</a:t>
            </a:r>
          </a:p>
        </p:txBody>
      </p:sp>
      <p:sp>
        <p:nvSpPr>
          <p:cNvPr id="23" name="Rectangle"/>
          <p:cNvSpPr/>
          <p:nvPr/>
        </p:nvSpPr>
        <p:spPr>
          <a:xfrm>
            <a:off x="9010650" y="1181100"/>
            <a:ext cx="2381250" cy="1181100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24" name="45"/>
          <p:cNvSpPr txBox="1"/>
          <p:nvPr/>
        </p:nvSpPr>
        <p:spPr>
          <a:xfrm>
            <a:off x="9265919" y="1333500"/>
            <a:ext cx="670562" cy="48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2E86AB"/>
                </a:solidFill>
              </a:defRPr>
            </a:lvl1pPr>
          </a:lstStyle>
          <a:p>
            <a:pPr/>
            <a:r>
              <a:t>45</a:t>
            </a:r>
          </a:p>
        </p:txBody>
      </p:sp>
      <p:sp>
        <p:nvSpPr>
          <p:cNvPr id="25" name="multi-seed PE runs"/>
          <p:cNvSpPr txBox="1"/>
          <p:nvPr/>
        </p:nvSpPr>
        <p:spPr>
          <a:xfrm>
            <a:off x="9265919" y="1885950"/>
            <a:ext cx="186118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11827"/>
                </a:solidFill>
              </a:defRPr>
            </a:lvl1pPr>
          </a:lstStyle>
          <a:p>
            <a:pPr/>
            <a:r>
              <a:t>multi-seed PE runs</a:t>
            </a:r>
          </a:p>
        </p:txBody>
      </p:sp>
      <p:sp>
        <p:nvSpPr>
          <p:cNvPr id="26" name="Rectangle"/>
          <p:cNvSpPr/>
          <p:nvPr/>
        </p:nvSpPr>
        <p:spPr>
          <a:xfrm>
            <a:off x="9010650" y="2743200"/>
            <a:ext cx="2381250" cy="1181100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27" name="15"/>
          <p:cNvSpPr txBox="1"/>
          <p:nvPr/>
        </p:nvSpPr>
        <p:spPr>
          <a:xfrm>
            <a:off x="9265919" y="2895600"/>
            <a:ext cx="670562" cy="48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3CA370"/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8" name="attention diagnostics"/>
          <p:cNvSpPr txBox="1"/>
          <p:nvPr/>
        </p:nvSpPr>
        <p:spPr>
          <a:xfrm>
            <a:off x="9265919" y="3448050"/>
            <a:ext cx="186118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11827"/>
                </a:solidFill>
              </a:defRPr>
            </a:lvl1pPr>
          </a:lstStyle>
          <a:p>
            <a:pPr/>
            <a:r>
              <a:t>attention diagnostics</a:t>
            </a:r>
          </a:p>
        </p:txBody>
      </p:sp>
      <p:sp>
        <p:nvSpPr>
          <p:cNvPr id="29" name="Rectangle"/>
          <p:cNvSpPr/>
          <p:nvPr/>
        </p:nvSpPr>
        <p:spPr>
          <a:xfrm>
            <a:off x="9010650" y="4305300"/>
            <a:ext cx="2381250" cy="1181100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30" name="9"/>
          <p:cNvSpPr txBox="1"/>
          <p:nvPr/>
        </p:nvSpPr>
        <p:spPr>
          <a:xfrm>
            <a:off x="9265919" y="4457700"/>
            <a:ext cx="670562" cy="48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F28E2B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1" name="mitigation runs"/>
          <p:cNvSpPr txBox="1"/>
          <p:nvPr/>
        </p:nvSpPr>
        <p:spPr>
          <a:xfrm>
            <a:off x="9265919" y="5010150"/>
            <a:ext cx="186118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11827"/>
                </a:solidFill>
              </a:defRPr>
            </a:lvl1pPr>
          </a:lstStyle>
          <a:p>
            <a:pPr/>
            <a:r>
              <a:t>mitigation runs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"/>
          <p:cNvSpPr/>
          <p:nvPr/>
        </p:nvSpPr>
        <p:spPr>
          <a:xfrm>
            <a:off x="478310" y="2212135"/>
            <a:ext cx="2428876" cy="138112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36" name="The project now asks a question of"/>
          <p:cNvSpPr txBox="1"/>
          <p:nvPr/>
        </p:nvSpPr>
        <p:spPr>
          <a:xfrm>
            <a:off x="655319" y="457200"/>
            <a:ext cx="10576562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172033"/>
                </a:solidFill>
              </a:defRPr>
            </a:lvl1pPr>
          </a:lstStyle>
          <a:p>
            <a:pPr/>
            <a:r>
              <a:t>The project now asks a question of</a:t>
            </a:r>
          </a:p>
        </p:txBody>
      </p:sp>
      <p:sp>
        <p:nvSpPr>
          <p:cNvPr id="37" name="Can small Transformers learn length-general algorithms, or do they learn length-specific shortcuts?"/>
          <p:cNvSpPr txBox="1"/>
          <p:nvPr/>
        </p:nvSpPr>
        <p:spPr>
          <a:xfrm>
            <a:off x="655319" y="1000125"/>
            <a:ext cx="10576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C667A"/>
                </a:solidFill>
              </a:defRPr>
            </a:lvl1pPr>
          </a:lstStyle>
          <a:p>
            <a:pPr/>
            <a:r>
              <a:t>Can small Transformers learn length-general algorithms, or do they learn length-specific shortcuts?</a:t>
            </a:r>
          </a:p>
        </p:txBody>
      </p:sp>
      <p:sp>
        <p:nvSpPr>
          <p:cNvPr id="38" name="Rectangle"/>
          <p:cNvSpPr/>
          <p:nvPr/>
        </p:nvSpPr>
        <p:spPr>
          <a:xfrm>
            <a:off x="609600" y="1543049"/>
            <a:ext cx="10972800" cy="1333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" name="Synthetic tasks"/>
          <p:cNvSpPr txBox="1"/>
          <p:nvPr/>
        </p:nvSpPr>
        <p:spPr>
          <a:xfrm>
            <a:off x="864869" y="2190750"/>
            <a:ext cx="191833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Synthetic tasks</a:t>
            </a:r>
          </a:p>
        </p:txBody>
      </p:sp>
      <p:sp>
        <p:nvSpPr>
          <p:cNvPr id="40" name="Addition, delayed copy, reverse, and associative recall were selected to probe algorithmic sequence behaviour."/>
          <p:cNvSpPr txBox="1"/>
          <p:nvPr/>
        </p:nvSpPr>
        <p:spPr>
          <a:xfrm>
            <a:off x="584853" y="2590800"/>
            <a:ext cx="2327096" cy="86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C667A"/>
                </a:solidFill>
              </a:defRPr>
            </a:lvl1pPr>
          </a:lstStyle>
          <a:p>
            <a:pPr/>
            <a:r>
              <a:t>Addition, delayed copy, reverse, and associative recall were selected to probe algorithmic sequence behaviour.</a:t>
            </a:r>
          </a:p>
        </p:txBody>
      </p:sp>
      <p:sp>
        <p:nvSpPr>
          <p:cNvPr id="41" name="Rectangle"/>
          <p:cNvSpPr/>
          <p:nvPr/>
        </p:nvSpPr>
        <p:spPr>
          <a:xfrm>
            <a:off x="3210955" y="2231548"/>
            <a:ext cx="2428876" cy="138112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2" name="Train short"/>
          <p:cNvSpPr txBox="1"/>
          <p:nvPr/>
        </p:nvSpPr>
        <p:spPr>
          <a:xfrm>
            <a:off x="3531869" y="2190750"/>
            <a:ext cx="191833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Train short</a:t>
            </a:r>
          </a:p>
        </p:txBody>
      </p:sp>
      <p:sp>
        <p:nvSpPr>
          <p:cNvPr id="43" name="Models are trained on short or moderate lengths, then evaluated at longer unseen lengths."/>
          <p:cNvSpPr txBox="1"/>
          <p:nvPr/>
        </p:nvSpPr>
        <p:spPr>
          <a:xfrm>
            <a:off x="3531869" y="2590800"/>
            <a:ext cx="1918337" cy="86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C667A"/>
                </a:solidFill>
              </a:defRPr>
            </a:lvl1pPr>
          </a:lstStyle>
          <a:p>
            <a:pPr/>
            <a:r>
              <a:t>Models are trained on short or moderate lengths, then evaluated at longer unseen lengths.</a:t>
            </a:r>
          </a:p>
        </p:txBody>
      </p:sp>
      <p:sp>
        <p:nvSpPr>
          <p:cNvPr id="44" name="Rectangle"/>
          <p:cNvSpPr/>
          <p:nvPr/>
        </p:nvSpPr>
        <p:spPr>
          <a:xfrm>
            <a:off x="5948362" y="2155767"/>
            <a:ext cx="2428876" cy="138112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" name="Stress length"/>
          <p:cNvSpPr txBox="1"/>
          <p:nvPr/>
        </p:nvSpPr>
        <p:spPr>
          <a:xfrm>
            <a:off x="6198869" y="2190750"/>
            <a:ext cx="191833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Stress length</a:t>
            </a:r>
          </a:p>
        </p:txBody>
      </p:sp>
      <p:sp>
        <p:nvSpPr>
          <p:cNvPr id="46" name="Evaluation extends to 1024 to test realistic long-context failure, not only tiny toy sequences."/>
          <p:cNvSpPr txBox="1"/>
          <p:nvPr/>
        </p:nvSpPr>
        <p:spPr>
          <a:xfrm>
            <a:off x="6198869" y="2590800"/>
            <a:ext cx="1918337" cy="86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C667A"/>
                </a:solidFill>
              </a:defRPr>
            </a:lvl1pPr>
          </a:lstStyle>
          <a:p>
            <a:pPr/>
            <a:r>
              <a:t>Evaluation extends to 1024 to test realistic long-context failure, not only tiny toy sequences.</a:t>
            </a:r>
          </a:p>
        </p:txBody>
      </p:sp>
      <p:sp>
        <p:nvSpPr>
          <p:cNvPr id="47" name="Rectangle"/>
          <p:cNvSpPr/>
          <p:nvPr/>
        </p:nvSpPr>
        <p:spPr>
          <a:xfrm>
            <a:off x="8676244" y="2093024"/>
            <a:ext cx="2428876" cy="138112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8" name="Explain failure"/>
          <p:cNvSpPr txBox="1"/>
          <p:nvPr/>
        </p:nvSpPr>
        <p:spPr>
          <a:xfrm>
            <a:off x="8865869" y="2190750"/>
            <a:ext cx="191833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Explain failure</a:t>
            </a:r>
          </a:p>
        </p:txBody>
      </p:sp>
      <p:sp>
        <p:nvSpPr>
          <p:cNvPr id="49" name="Results are linked to attention diagnostics and a failure taxonomy, not only raw accuracy."/>
          <p:cNvSpPr txBox="1"/>
          <p:nvPr/>
        </p:nvSpPr>
        <p:spPr>
          <a:xfrm>
            <a:off x="8865869" y="2590800"/>
            <a:ext cx="1918337" cy="86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C667A"/>
                </a:solidFill>
              </a:defRPr>
            </a:lvl1pPr>
          </a:lstStyle>
          <a:p>
            <a:pPr/>
            <a:r>
              <a:t>Results are linked to attention diagnostics and a failure taxonomy, not only raw accuracy.</a:t>
            </a:r>
          </a:p>
        </p:txBody>
      </p:sp>
      <p:sp>
        <p:nvSpPr>
          <p:cNvPr id="50" name="Circle"/>
          <p:cNvSpPr/>
          <p:nvPr/>
        </p:nvSpPr>
        <p:spPr>
          <a:xfrm>
            <a:off x="838200" y="436245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" name="Current evidence supports length-specific learning rather than robust algorithmic extrapolation."/>
          <p:cNvSpPr txBox="1"/>
          <p:nvPr/>
        </p:nvSpPr>
        <p:spPr>
          <a:xfrm>
            <a:off x="1112519" y="4286250"/>
            <a:ext cx="9966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Current evidence supports length-specific learning rather than robust algorithmic extrapolation.</a:t>
            </a:r>
          </a:p>
        </p:txBody>
      </p:sp>
      <p:sp>
        <p:nvSpPr>
          <p:cNvPr id="52" name="Circle"/>
          <p:cNvSpPr/>
          <p:nvPr/>
        </p:nvSpPr>
        <p:spPr>
          <a:xfrm>
            <a:off x="838200" y="487680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" name="The work now has results for baseline, positional encoding, robustness, attention, and mitigation."/>
          <p:cNvSpPr txBox="1"/>
          <p:nvPr/>
        </p:nvSpPr>
        <p:spPr>
          <a:xfrm>
            <a:off x="1112519" y="4800600"/>
            <a:ext cx="9966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The work now has results for baseline, positional encoding, robustness, attention, and mitigation.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he experiment matrix is now complete"/>
          <p:cNvSpPr txBox="1"/>
          <p:nvPr/>
        </p:nvSpPr>
        <p:spPr>
          <a:xfrm>
            <a:off x="655319" y="457200"/>
            <a:ext cx="10576562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172033"/>
                </a:solidFill>
              </a:defRPr>
            </a:lvl1pPr>
          </a:lstStyle>
          <a:p>
            <a:pPr/>
            <a:r>
              <a:t>The experiment matrix is now complete</a:t>
            </a:r>
          </a:p>
        </p:txBody>
      </p:sp>
      <p:sp>
        <p:nvSpPr>
          <p:cNvPr id="58" name="The core matrix covers task, positional encoding, length, and seed."/>
          <p:cNvSpPr txBox="1"/>
          <p:nvPr/>
        </p:nvSpPr>
        <p:spPr>
          <a:xfrm>
            <a:off x="655319" y="1000125"/>
            <a:ext cx="10576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C667A"/>
                </a:solidFill>
              </a:defRPr>
            </a:lvl1pPr>
          </a:lstStyle>
          <a:p>
            <a:pPr/>
            <a:r>
              <a:t>The core matrix covers task, positional encoding, length, and seed.</a:t>
            </a:r>
          </a:p>
        </p:txBody>
      </p:sp>
      <p:sp>
        <p:nvSpPr>
          <p:cNvPr id="59" name="Rectangle"/>
          <p:cNvSpPr/>
          <p:nvPr/>
        </p:nvSpPr>
        <p:spPr>
          <a:xfrm>
            <a:off x="609600" y="1543049"/>
            <a:ext cx="10972800" cy="1333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0" name="Rectangle"/>
          <p:cNvSpPr/>
          <p:nvPr/>
        </p:nvSpPr>
        <p:spPr>
          <a:xfrm>
            <a:off x="857250" y="2076450"/>
            <a:ext cx="2381250" cy="1181100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1" name="3"/>
          <p:cNvSpPr txBox="1"/>
          <p:nvPr/>
        </p:nvSpPr>
        <p:spPr>
          <a:xfrm>
            <a:off x="1112519" y="2228850"/>
            <a:ext cx="670562" cy="48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2E86AB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2" name="main tasks"/>
          <p:cNvSpPr txBox="1"/>
          <p:nvPr/>
        </p:nvSpPr>
        <p:spPr>
          <a:xfrm>
            <a:off x="1112519" y="2781300"/>
            <a:ext cx="186118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11827"/>
                </a:solidFill>
              </a:defRPr>
            </a:lvl1pPr>
          </a:lstStyle>
          <a:p>
            <a:pPr/>
            <a:r>
              <a:t>main tasks</a:t>
            </a:r>
          </a:p>
        </p:txBody>
      </p:sp>
      <p:sp>
        <p:nvSpPr>
          <p:cNvPr id="63" name="Rectangle"/>
          <p:cNvSpPr/>
          <p:nvPr/>
        </p:nvSpPr>
        <p:spPr>
          <a:xfrm>
            <a:off x="3571875" y="2076450"/>
            <a:ext cx="2381250" cy="1181100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" name="5"/>
          <p:cNvSpPr txBox="1"/>
          <p:nvPr/>
        </p:nvSpPr>
        <p:spPr>
          <a:xfrm>
            <a:off x="3827144" y="2228850"/>
            <a:ext cx="670562" cy="48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3CA370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5" name="PE variants"/>
          <p:cNvSpPr txBox="1"/>
          <p:nvPr/>
        </p:nvSpPr>
        <p:spPr>
          <a:xfrm>
            <a:off x="3827144" y="2781300"/>
            <a:ext cx="186118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11827"/>
                </a:solidFill>
              </a:defRPr>
            </a:lvl1pPr>
          </a:lstStyle>
          <a:p>
            <a:pPr/>
            <a:r>
              <a:t>PE variants</a:t>
            </a:r>
          </a:p>
        </p:txBody>
      </p:sp>
      <p:sp>
        <p:nvSpPr>
          <p:cNvPr id="66" name="Rectangle"/>
          <p:cNvSpPr/>
          <p:nvPr/>
        </p:nvSpPr>
        <p:spPr>
          <a:xfrm>
            <a:off x="6286500" y="2076450"/>
            <a:ext cx="2381250" cy="1181100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7" name="3"/>
          <p:cNvSpPr txBox="1"/>
          <p:nvPr/>
        </p:nvSpPr>
        <p:spPr>
          <a:xfrm>
            <a:off x="6541769" y="2228850"/>
            <a:ext cx="670562" cy="48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F28E2B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8" name="random seeds"/>
          <p:cNvSpPr txBox="1"/>
          <p:nvPr/>
        </p:nvSpPr>
        <p:spPr>
          <a:xfrm>
            <a:off x="6541769" y="2781300"/>
            <a:ext cx="186118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11827"/>
                </a:solidFill>
              </a:defRPr>
            </a:lvl1pPr>
          </a:lstStyle>
          <a:p>
            <a:pPr/>
            <a:r>
              <a:t>random seeds</a:t>
            </a:r>
          </a:p>
        </p:txBody>
      </p:sp>
      <p:sp>
        <p:nvSpPr>
          <p:cNvPr id="69" name="Rectangle"/>
          <p:cNvSpPr/>
          <p:nvPr/>
        </p:nvSpPr>
        <p:spPr>
          <a:xfrm>
            <a:off x="9001125" y="2076450"/>
            <a:ext cx="2381250" cy="1181100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" name="45"/>
          <p:cNvSpPr txBox="1"/>
          <p:nvPr/>
        </p:nvSpPr>
        <p:spPr>
          <a:xfrm>
            <a:off x="9256394" y="2228850"/>
            <a:ext cx="670562" cy="48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6F4EAD"/>
                </a:solidFill>
              </a:defRPr>
            </a:lvl1pPr>
          </a:lstStyle>
          <a:p>
            <a:pPr/>
            <a:r>
              <a:t>45</a:t>
            </a:r>
          </a:p>
        </p:txBody>
      </p:sp>
      <p:sp>
        <p:nvSpPr>
          <p:cNvPr id="71" name="completed runs"/>
          <p:cNvSpPr txBox="1"/>
          <p:nvPr/>
        </p:nvSpPr>
        <p:spPr>
          <a:xfrm>
            <a:off x="9256394" y="2781300"/>
            <a:ext cx="186118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11827"/>
                </a:solidFill>
              </a:defRPr>
            </a:lvl1pPr>
          </a:lstStyle>
          <a:p>
            <a:pPr/>
            <a:r>
              <a:t>completed runs</a:t>
            </a:r>
          </a:p>
        </p:txBody>
      </p:sp>
      <p:sp>
        <p:nvSpPr>
          <p:cNvPr id="72" name="Circle"/>
          <p:cNvSpPr/>
          <p:nvPr/>
        </p:nvSpPr>
        <p:spPr>
          <a:xfrm>
            <a:off x="838200" y="426720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3" name="Tasks: addition, delayed copy, reverse."/>
          <p:cNvSpPr txBox="1"/>
          <p:nvPr/>
        </p:nvSpPr>
        <p:spPr>
          <a:xfrm>
            <a:off x="1112519" y="4191000"/>
            <a:ext cx="99669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72033"/>
                </a:solidFill>
              </a:defRPr>
            </a:lvl1pPr>
          </a:lstStyle>
          <a:p>
            <a:pPr/>
            <a:r>
              <a:t>Tasks: addition, delayed copy, reverse.</a:t>
            </a:r>
          </a:p>
        </p:txBody>
      </p:sp>
      <p:sp>
        <p:nvSpPr>
          <p:cNvPr id="74" name="Circle"/>
          <p:cNvSpPr/>
          <p:nvPr/>
        </p:nvSpPr>
        <p:spPr>
          <a:xfrm>
            <a:off x="838200" y="4695825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5" name="PE variants: learned, sinusoidal, NoPE, ALiBi, RoPE."/>
          <p:cNvSpPr txBox="1"/>
          <p:nvPr/>
        </p:nvSpPr>
        <p:spPr>
          <a:xfrm>
            <a:off x="1112519" y="4619625"/>
            <a:ext cx="99669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72033"/>
                </a:solidFill>
              </a:defRPr>
            </a:lvl1pPr>
          </a:lstStyle>
          <a:p>
            <a:pPr/>
            <a:r>
              <a:t>PE variants: learned, sinusoidal, NoPE, ALiBi, RoPE.</a:t>
            </a:r>
          </a:p>
        </p:txBody>
      </p:sp>
      <p:sp>
        <p:nvSpPr>
          <p:cNvPr id="76" name="Circle"/>
          <p:cNvSpPr/>
          <p:nvPr/>
        </p:nvSpPr>
        <p:spPr>
          <a:xfrm>
            <a:off x="838200" y="512445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7" name="Seeds: 42, 123, 2024, with mean, standard deviation, and standard error reported."/>
          <p:cNvSpPr txBox="1"/>
          <p:nvPr/>
        </p:nvSpPr>
        <p:spPr>
          <a:xfrm>
            <a:off x="1112519" y="5048250"/>
            <a:ext cx="99669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72033"/>
                </a:solidFill>
              </a:defRPr>
            </a:lvl1pPr>
          </a:lstStyle>
          <a:p>
            <a:pPr/>
            <a:r>
              <a:t>Seeds: 42, 123, 2024, with mean, standard deviation, and standard error reported.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aseline models fit train length but collapse out of range"/>
          <p:cNvSpPr txBox="1"/>
          <p:nvPr/>
        </p:nvSpPr>
        <p:spPr>
          <a:xfrm>
            <a:off x="655319" y="457200"/>
            <a:ext cx="10576562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172033"/>
                </a:solidFill>
              </a:defRPr>
            </a:lvl1pPr>
          </a:lstStyle>
          <a:p>
            <a:pPr/>
            <a:r>
              <a:t>Baseline models fit train length but collapse out of range</a:t>
            </a:r>
          </a:p>
        </p:txBody>
      </p:sp>
      <p:sp>
        <p:nvSpPr>
          <p:cNvPr id="82" name="Exact match accuracy falls to zero as soon as the model leaves the training distribution."/>
          <p:cNvSpPr txBox="1"/>
          <p:nvPr/>
        </p:nvSpPr>
        <p:spPr>
          <a:xfrm>
            <a:off x="655319" y="1000125"/>
            <a:ext cx="10576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C667A"/>
                </a:solidFill>
              </a:defRPr>
            </a:lvl1pPr>
          </a:lstStyle>
          <a:p>
            <a:pPr/>
            <a:r>
              <a:t>Exact match accuracy falls to zero as soon as the model leaves the training distribution.</a:t>
            </a:r>
          </a:p>
        </p:txBody>
      </p:sp>
      <p:sp>
        <p:nvSpPr>
          <p:cNvPr id="83" name="Rectangle"/>
          <p:cNvSpPr/>
          <p:nvPr/>
        </p:nvSpPr>
        <p:spPr>
          <a:xfrm>
            <a:off x="609600" y="1543049"/>
            <a:ext cx="10972800" cy="1333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84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9600" y="2271713"/>
            <a:ext cx="3381375" cy="2028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image2.png" descr="image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400550" y="2271713"/>
            <a:ext cx="3381375" cy="2028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image3.png" descr="image3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191500" y="2271713"/>
            <a:ext cx="3381375" cy="2028826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Circle"/>
          <p:cNvSpPr/>
          <p:nvPr/>
        </p:nvSpPr>
        <p:spPr>
          <a:xfrm>
            <a:off x="838200" y="541020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8" name="Addition fails immediately after train length 16."/>
          <p:cNvSpPr txBox="1"/>
          <p:nvPr/>
        </p:nvSpPr>
        <p:spPr>
          <a:xfrm>
            <a:off x="1112519" y="5334000"/>
            <a:ext cx="99669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72033"/>
                </a:solidFill>
              </a:defRPr>
            </a:lvl1pPr>
          </a:lstStyle>
          <a:p>
            <a:pPr/>
            <a:r>
              <a:t>Addition fails immediately after train length 16.</a:t>
            </a:r>
          </a:p>
        </p:txBody>
      </p:sp>
      <p:sp>
        <p:nvSpPr>
          <p:cNvPr id="89" name="Circle"/>
          <p:cNvSpPr/>
          <p:nvPr/>
        </p:nvSpPr>
        <p:spPr>
          <a:xfrm>
            <a:off x="838200" y="575310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0" name="Delayed copy and reverse fail when moving from 128 to 256."/>
          <p:cNvSpPr txBox="1"/>
          <p:nvPr/>
        </p:nvSpPr>
        <p:spPr>
          <a:xfrm>
            <a:off x="1112519" y="5676900"/>
            <a:ext cx="99669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72033"/>
                </a:solidFill>
              </a:defRPr>
            </a:lvl1pPr>
          </a:lstStyle>
          <a:p>
            <a:pPr/>
            <a:r>
              <a:t>Delayed copy and reverse fail when moving from 128 to 256.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ositional encodings change fit, not the long-length outcome"/>
          <p:cNvSpPr txBox="1"/>
          <p:nvPr/>
        </p:nvSpPr>
        <p:spPr>
          <a:xfrm>
            <a:off x="655319" y="457200"/>
            <a:ext cx="10576562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172033"/>
                </a:solidFill>
              </a:defRPr>
            </a:lvl1pPr>
          </a:lstStyle>
          <a:p>
            <a:pPr/>
            <a:r>
              <a:t>Positional encodings change fit, not the long-length outcome</a:t>
            </a:r>
          </a:p>
        </p:txBody>
      </p:sp>
      <p:sp>
        <p:nvSpPr>
          <p:cNvPr id="95" name="Some encodings learn the training length; none reliably extrapolate to 1024."/>
          <p:cNvSpPr txBox="1"/>
          <p:nvPr/>
        </p:nvSpPr>
        <p:spPr>
          <a:xfrm>
            <a:off x="655319" y="1000125"/>
            <a:ext cx="10576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C667A"/>
                </a:solidFill>
              </a:defRPr>
            </a:lvl1pPr>
          </a:lstStyle>
          <a:p>
            <a:pPr/>
            <a:r>
              <a:t>Some encodings learn the training length; none reliably extrapolate to 1024.</a:t>
            </a:r>
          </a:p>
        </p:txBody>
      </p:sp>
      <p:sp>
        <p:nvSpPr>
          <p:cNvPr id="96" name="Rectangle"/>
          <p:cNvSpPr/>
          <p:nvPr/>
        </p:nvSpPr>
        <p:spPr>
          <a:xfrm>
            <a:off x="609600" y="1543049"/>
            <a:ext cx="10972800" cy="1333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97" name="image4.png" descr="image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0550" y="2808339"/>
            <a:ext cx="5238750" cy="1622324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image5.png" descr="image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62700" y="2808339"/>
            <a:ext cx="5238750" cy="1622324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Circle"/>
          <p:cNvSpPr/>
          <p:nvPr/>
        </p:nvSpPr>
        <p:spPr>
          <a:xfrm>
            <a:off x="857250" y="569595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0" name="NoPE and ALiBi often underfit at train length in this setup."/>
          <p:cNvSpPr txBox="1"/>
          <p:nvPr/>
        </p:nvSpPr>
        <p:spPr>
          <a:xfrm>
            <a:off x="1131569" y="5619750"/>
            <a:ext cx="97764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72033"/>
                </a:solidFill>
              </a:defRPr>
            </a:lvl1pPr>
          </a:lstStyle>
          <a:p>
            <a:pPr/>
            <a:r>
              <a:t>NoPE and ALiBi often underfit at train length in this setup.</a:t>
            </a:r>
          </a:p>
        </p:txBody>
      </p:sp>
      <p:sp>
        <p:nvSpPr>
          <p:cNvPr id="101" name="Circle"/>
          <p:cNvSpPr/>
          <p:nvPr/>
        </p:nvSpPr>
        <p:spPr>
          <a:xfrm>
            <a:off x="857250" y="6029325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2" name="Learned, sinusoidal, and RoPE can fit train length, but exact at 1024 remains 0%."/>
          <p:cNvSpPr txBox="1"/>
          <p:nvPr/>
        </p:nvSpPr>
        <p:spPr>
          <a:xfrm>
            <a:off x="1131569" y="5953125"/>
            <a:ext cx="97764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72033"/>
                </a:solidFill>
              </a:defRPr>
            </a:lvl1pPr>
          </a:lstStyle>
          <a:p>
            <a:pPr/>
            <a:r>
              <a:t>Learned, sinusoidal, and RoPE can fit train length, but exact at 1024 remains 0%.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Multi-seed reporting exposes instability"/>
          <p:cNvSpPr txBox="1"/>
          <p:nvPr/>
        </p:nvSpPr>
        <p:spPr>
          <a:xfrm>
            <a:off x="655319" y="457200"/>
            <a:ext cx="10576562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172033"/>
                </a:solidFill>
              </a:defRPr>
            </a:lvl1pPr>
          </a:lstStyle>
          <a:p>
            <a:pPr/>
            <a:r>
              <a:t>Multi-seed reporting exposes instability</a:t>
            </a:r>
          </a:p>
        </p:txBody>
      </p:sp>
      <p:sp>
        <p:nvSpPr>
          <p:cNvPr id="107" name="Some settings are stable, while others vary strongly across seeds."/>
          <p:cNvSpPr txBox="1"/>
          <p:nvPr/>
        </p:nvSpPr>
        <p:spPr>
          <a:xfrm>
            <a:off x="655319" y="1000125"/>
            <a:ext cx="10576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C667A"/>
                </a:solidFill>
              </a:defRPr>
            </a:lvl1pPr>
          </a:lstStyle>
          <a:p>
            <a:pPr/>
            <a:r>
              <a:t>Some settings are stable, while others vary strongly across seeds.</a:t>
            </a:r>
          </a:p>
        </p:txBody>
      </p:sp>
      <p:sp>
        <p:nvSpPr>
          <p:cNvPr id="108" name="Rectangle"/>
          <p:cNvSpPr/>
          <p:nvPr/>
        </p:nvSpPr>
        <p:spPr>
          <a:xfrm>
            <a:off x="609600" y="1543049"/>
            <a:ext cx="10972800" cy="1333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09" name="image6.png" descr="image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6750" y="2819093"/>
            <a:ext cx="5476875" cy="1696066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Rectangle"/>
          <p:cNvSpPr/>
          <p:nvPr/>
        </p:nvSpPr>
        <p:spPr>
          <a:xfrm>
            <a:off x="6762750" y="2000250"/>
            <a:ext cx="4000500" cy="1143000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1" name="Seed-sensitive cases"/>
          <p:cNvSpPr txBox="1"/>
          <p:nvPr/>
        </p:nvSpPr>
        <p:spPr>
          <a:xfrm>
            <a:off x="7018019" y="2152650"/>
            <a:ext cx="3489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Seed-sensitive cases</a:t>
            </a:r>
          </a:p>
        </p:txBody>
      </p:sp>
      <p:sp>
        <p:nvSpPr>
          <p:cNvPr id="112" name="Delayed copy learned and reverse sinusoidal have high train-length variance across seeds."/>
          <p:cNvSpPr txBox="1"/>
          <p:nvPr/>
        </p:nvSpPr>
        <p:spPr>
          <a:xfrm>
            <a:off x="7018019" y="2552700"/>
            <a:ext cx="34899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C667A"/>
                </a:solidFill>
              </a:defRPr>
            </a:lvl1pPr>
          </a:lstStyle>
          <a:p>
            <a:pPr/>
            <a:r>
              <a:t>Delayed copy learned and reverse sinusoidal have high train-length variance across seeds.</a:t>
            </a:r>
          </a:p>
        </p:txBody>
      </p:sp>
      <p:sp>
        <p:nvSpPr>
          <p:cNvPr id="113" name="Rectangle"/>
          <p:cNvSpPr/>
          <p:nvPr/>
        </p:nvSpPr>
        <p:spPr>
          <a:xfrm>
            <a:off x="6762750" y="3409950"/>
            <a:ext cx="4000500" cy="1143000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4" name="Stable failure cases"/>
          <p:cNvSpPr txBox="1"/>
          <p:nvPr/>
        </p:nvSpPr>
        <p:spPr>
          <a:xfrm>
            <a:off x="7018019" y="3562350"/>
            <a:ext cx="3489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Stable failure cases</a:t>
            </a:r>
          </a:p>
        </p:txBody>
      </p:sp>
      <p:sp>
        <p:nvSpPr>
          <p:cNvPr id="115" name="Addition learned and sinusoidal fit train length consistently, then fail immediately at length 32."/>
          <p:cNvSpPr txBox="1"/>
          <p:nvPr/>
        </p:nvSpPr>
        <p:spPr>
          <a:xfrm>
            <a:off x="7018019" y="3962400"/>
            <a:ext cx="34899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C667A"/>
                </a:solidFill>
              </a:defRPr>
            </a:lvl1pPr>
          </a:lstStyle>
          <a:p>
            <a:pPr/>
            <a:r>
              <a:t>Addition learned and sinusoidal fit train length consistently, then fail immediately at length 32.</a:t>
            </a:r>
          </a:p>
        </p:txBody>
      </p:sp>
      <p:sp>
        <p:nvSpPr>
          <p:cNvPr id="116" name="Rectangle"/>
          <p:cNvSpPr/>
          <p:nvPr/>
        </p:nvSpPr>
        <p:spPr>
          <a:xfrm>
            <a:off x="6762750" y="4819650"/>
            <a:ext cx="4000500" cy="1143000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7" name="Reporting choice"/>
          <p:cNvSpPr txBox="1"/>
          <p:nvPr/>
        </p:nvSpPr>
        <p:spPr>
          <a:xfrm>
            <a:off x="7018019" y="4972050"/>
            <a:ext cx="3489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Reporting choice</a:t>
            </a:r>
          </a:p>
        </p:txBody>
      </p:sp>
      <p:sp>
        <p:nvSpPr>
          <p:cNvPr id="118" name="Mean, standard deviation, and standard error are now included in summary tables."/>
          <p:cNvSpPr txBox="1"/>
          <p:nvPr/>
        </p:nvSpPr>
        <p:spPr>
          <a:xfrm>
            <a:off x="7018019" y="5372100"/>
            <a:ext cx="34899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C667A"/>
                </a:solidFill>
              </a:defRPr>
            </a:lvl1pPr>
          </a:lstStyle>
          <a:p>
            <a:pPr/>
            <a:r>
              <a:t>Mean, standard deviation, and standard error are now included in summary tables.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Attention diagnostics help explain the failure"/>
          <p:cNvSpPr txBox="1"/>
          <p:nvPr/>
        </p:nvSpPr>
        <p:spPr>
          <a:xfrm>
            <a:off x="655319" y="457200"/>
            <a:ext cx="10576562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172033"/>
                </a:solidFill>
              </a:defRPr>
            </a:lvl1pPr>
          </a:lstStyle>
          <a:p>
            <a:pPr/>
            <a:r>
              <a:t>Attention diagnostics help explain the failure</a:t>
            </a:r>
          </a:p>
        </p:txBody>
      </p:sp>
      <p:sp>
        <p:nvSpPr>
          <p:cNvPr id="123" name="At longer lengths, attention becomes more diffuse and less locally structured."/>
          <p:cNvSpPr txBox="1"/>
          <p:nvPr/>
        </p:nvSpPr>
        <p:spPr>
          <a:xfrm>
            <a:off x="655319" y="1000125"/>
            <a:ext cx="10576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C667A"/>
                </a:solidFill>
              </a:defRPr>
            </a:lvl1pPr>
          </a:lstStyle>
          <a:p>
            <a:pPr/>
            <a:r>
              <a:t>At longer lengths, attention becomes more diffuse and less locally structured.</a:t>
            </a:r>
          </a:p>
        </p:txBody>
      </p:sp>
      <p:sp>
        <p:nvSpPr>
          <p:cNvPr id="124" name="Rectangle"/>
          <p:cNvSpPr/>
          <p:nvPr/>
        </p:nvSpPr>
        <p:spPr>
          <a:xfrm>
            <a:off x="609600" y="1543049"/>
            <a:ext cx="10972800" cy="1333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25" name="image7.png" descr="image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9600" y="2158008"/>
            <a:ext cx="3381375" cy="21133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image8.png" descr="image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400550" y="2158008"/>
            <a:ext cx="3381375" cy="21133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image9.png" descr="image9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191500" y="2158008"/>
            <a:ext cx="3381375" cy="2113359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Circle"/>
          <p:cNvSpPr/>
          <p:nvPr/>
        </p:nvSpPr>
        <p:spPr>
          <a:xfrm>
            <a:off x="838200" y="531495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9" name="Addition learned entropy rises from 0.156 at length 16 to 0.594 at length 1024."/>
          <p:cNvSpPr txBox="1"/>
          <p:nvPr/>
        </p:nvSpPr>
        <p:spPr>
          <a:xfrm>
            <a:off x="1112519" y="5238750"/>
            <a:ext cx="99669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72033"/>
                </a:solidFill>
              </a:defRPr>
            </a:lvl1pPr>
          </a:lstStyle>
          <a:p>
            <a:pPr/>
            <a:r>
              <a:t>Addition learned entropy rises from 0.156 at length 16 to 0.594 at length 1024.</a:t>
            </a:r>
          </a:p>
        </p:txBody>
      </p:sp>
      <p:sp>
        <p:nvSpPr>
          <p:cNvPr id="130" name="Circle"/>
          <p:cNvSpPr/>
          <p:nvPr/>
        </p:nvSpPr>
        <p:spPr>
          <a:xfrm>
            <a:off x="838200" y="567690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1" name="Reverse learned entropy rises from 0.539 at length 128 to 0.910 at length 1024."/>
          <p:cNvSpPr txBox="1"/>
          <p:nvPr/>
        </p:nvSpPr>
        <p:spPr>
          <a:xfrm>
            <a:off x="1112519" y="5600700"/>
            <a:ext cx="99669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72033"/>
                </a:solidFill>
              </a:defRPr>
            </a:lvl1pPr>
          </a:lstStyle>
          <a:p>
            <a:pPr/>
            <a:r>
              <a:t>Reverse learned entropy rises from 0.539 at length 128 to 0.910 at length 1024.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Mitigation attempts did not recover extrapolation"/>
          <p:cNvSpPr txBox="1"/>
          <p:nvPr/>
        </p:nvSpPr>
        <p:spPr>
          <a:xfrm>
            <a:off x="655319" y="457200"/>
            <a:ext cx="10576562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172033"/>
                </a:solidFill>
              </a:defRPr>
            </a:lvl1pPr>
          </a:lstStyle>
          <a:p>
            <a:pPr/>
            <a:r>
              <a:t>Mitigation attempts did not recover extrapolation</a:t>
            </a:r>
          </a:p>
        </p:txBody>
      </p:sp>
      <p:sp>
        <p:nvSpPr>
          <p:cNvPr id="136" name="Curriculum and randomised training keep train-length accuracy high, but exact at 1024 remains zero."/>
          <p:cNvSpPr txBox="1"/>
          <p:nvPr/>
        </p:nvSpPr>
        <p:spPr>
          <a:xfrm>
            <a:off x="655319" y="1000125"/>
            <a:ext cx="10576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C667A"/>
                </a:solidFill>
              </a:defRPr>
            </a:lvl1pPr>
          </a:lstStyle>
          <a:p>
            <a:pPr/>
            <a:r>
              <a:t>Curriculum and randomised training keep train-length accuracy high, but exact at 1024 remains zero.</a:t>
            </a:r>
          </a:p>
        </p:txBody>
      </p:sp>
      <p:sp>
        <p:nvSpPr>
          <p:cNvPr id="137" name="Rectangle"/>
          <p:cNvSpPr/>
          <p:nvPr/>
        </p:nvSpPr>
        <p:spPr>
          <a:xfrm>
            <a:off x="609600" y="1543049"/>
            <a:ext cx="10972800" cy="1333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38" name="image10.png" descr="image1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48125" y="1809750"/>
            <a:ext cx="4114400" cy="3905250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Rectangle"/>
          <p:cNvSpPr/>
          <p:nvPr/>
        </p:nvSpPr>
        <p:spPr>
          <a:xfrm>
            <a:off x="8667750" y="2199714"/>
            <a:ext cx="2476500" cy="90487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40" name="Mixed length"/>
          <p:cNvSpPr txBox="1"/>
          <p:nvPr/>
        </p:nvSpPr>
        <p:spPr>
          <a:xfrm>
            <a:off x="8923019" y="2247900"/>
            <a:ext cx="1965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Mixed length</a:t>
            </a:r>
          </a:p>
        </p:txBody>
      </p:sp>
      <p:sp>
        <p:nvSpPr>
          <p:cNvPr id="141" name="Addition and copy underfit at train length."/>
          <p:cNvSpPr txBox="1"/>
          <p:nvPr/>
        </p:nvSpPr>
        <p:spPr>
          <a:xfrm>
            <a:off x="8923019" y="2647950"/>
            <a:ext cx="19659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C667A"/>
                </a:solidFill>
              </a:defRPr>
            </a:lvl1pPr>
          </a:lstStyle>
          <a:p>
            <a:pPr/>
            <a:r>
              <a:t>Addition and copy underfit at train length.</a:t>
            </a:r>
          </a:p>
        </p:txBody>
      </p:sp>
      <p:sp>
        <p:nvSpPr>
          <p:cNvPr id="142" name="Rectangle"/>
          <p:cNvSpPr/>
          <p:nvPr/>
        </p:nvSpPr>
        <p:spPr>
          <a:xfrm>
            <a:off x="8667750" y="3361764"/>
            <a:ext cx="2476500" cy="90487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43" name="Curriculum"/>
          <p:cNvSpPr txBox="1"/>
          <p:nvPr/>
        </p:nvSpPr>
        <p:spPr>
          <a:xfrm>
            <a:off x="8923019" y="3409950"/>
            <a:ext cx="1965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Curriculum</a:t>
            </a:r>
          </a:p>
        </p:txBody>
      </p:sp>
      <p:sp>
        <p:nvSpPr>
          <p:cNvPr id="144" name="Copy and reverse fit train length, but fail at 256+."/>
          <p:cNvSpPr txBox="1"/>
          <p:nvPr/>
        </p:nvSpPr>
        <p:spPr>
          <a:xfrm>
            <a:off x="8923019" y="3810000"/>
            <a:ext cx="19659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C667A"/>
                </a:solidFill>
              </a:defRPr>
            </a:lvl1pPr>
          </a:lstStyle>
          <a:p>
            <a:pPr/>
            <a:r>
              <a:t>Copy and reverse fit train length, but fail at 256+.</a:t>
            </a:r>
          </a:p>
        </p:txBody>
      </p:sp>
      <p:sp>
        <p:nvSpPr>
          <p:cNvPr id="145" name="Rectangle"/>
          <p:cNvSpPr/>
          <p:nvPr/>
        </p:nvSpPr>
        <p:spPr>
          <a:xfrm>
            <a:off x="8667750" y="4574381"/>
            <a:ext cx="2476500" cy="90487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46" name="Randomised"/>
          <p:cNvSpPr txBox="1"/>
          <p:nvPr/>
        </p:nvSpPr>
        <p:spPr>
          <a:xfrm>
            <a:off x="8923019" y="4572000"/>
            <a:ext cx="1965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Randomised</a:t>
            </a:r>
          </a:p>
        </p:txBody>
      </p:sp>
      <p:sp>
        <p:nvSpPr>
          <p:cNvPr id="147" name="Copy fits train length, but still fails at 256+."/>
          <p:cNvSpPr txBox="1"/>
          <p:nvPr/>
        </p:nvSpPr>
        <p:spPr>
          <a:xfrm>
            <a:off x="8923019" y="4972050"/>
            <a:ext cx="19659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C667A"/>
                </a:solidFill>
              </a:defRPr>
            </a:lvl1pPr>
          </a:lstStyle>
          <a:p>
            <a:pPr/>
            <a:r>
              <a:t>Copy fits train length, but still fails at 256+.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he results now form a failure taxonomy"/>
          <p:cNvSpPr txBox="1"/>
          <p:nvPr/>
        </p:nvSpPr>
        <p:spPr>
          <a:xfrm>
            <a:off x="655319" y="457200"/>
            <a:ext cx="10576562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172033"/>
                </a:solidFill>
              </a:defRPr>
            </a:lvl1pPr>
          </a:lstStyle>
          <a:p>
            <a:pPr/>
            <a:r>
              <a:t>The results now form a failure taxonomy</a:t>
            </a:r>
          </a:p>
        </p:txBody>
      </p:sp>
      <p:sp>
        <p:nvSpPr>
          <p:cNvPr id="152" name="The taxonomy separates underfitting from true extrapolation failure."/>
          <p:cNvSpPr txBox="1"/>
          <p:nvPr/>
        </p:nvSpPr>
        <p:spPr>
          <a:xfrm>
            <a:off x="655319" y="1000125"/>
            <a:ext cx="10576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C667A"/>
                </a:solidFill>
              </a:defRPr>
            </a:lvl1pPr>
          </a:lstStyle>
          <a:p>
            <a:pPr/>
            <a:r>
              <a:t>The taxonomy separates underfitting from true extrapolation failure.</a:t>
            </a:r>
          </a:p>
        </p:txBody>
      </p:sp>
      <p:sp>
        <p:nvSpPr>
          <p:cNvPr id="153" name="Rectangle"/>
          <p:cNvSpPr/>
          <p:nvPr/>
        </p:nvSpPr>
        <p:spPr>
          <a:xfrm>
            <a:off x="609600" y="1543049"/>
            <a:ext cx="10972800" cy="1333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4" name="Failure type"/>
          <p:cNvSpPr txBox="1"/>
          <p:nvPr/>
        </p:nvSpPr>
        <p:spPr>
          <a:xfrm>
            <a:off x="655319" y="1905000"/>
            <a:ext cx="2289812" cy="310119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E86AB"/>
                </a:solidFill>
              </a:defRPr>
            </a:lvl1pPr>
          </a:lstStyle>
          <a:p>
            <a:pPr/>
            <a:r>
              <a:t>Failure type</a:t>
            </a:r>
          </a:p>
        </p:txBody>
      </p:sp>
      <p:sp>
        <p:nvSpPr>
          <p:cNvPr id="155" name="Evidence"/>
          <p:cNvSpPr txBox="1"/>
          <p:nvPr/>
        </p:nvSpPr>
        <p:spPr>
          <a:xfrm>
            <a:off x="3427094" y="1905000"/>
            <a:ext cx="2289812" cy="310119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E86AB"/>
                </a:solidFill>
              </a:defRPr>
            </a:lvl1pPr>
          </a:lstStyle>
          <a:p>
            <a:pPr/>
            <a:r>
              <a:t>Evidence</a:t>
            </a:r>
          </a:p>
        </p:txBody>
      </p:sp>
      <p:sp>
        <p:nvSpPr>
          <p:cNvPr id="156" name="Affected tasks"/>
          <p:cNvSpPr txBox="1"/>
          <p:nvPr/>
        </p:nvSpPr>
        <p:spPr>
          <a:xfrm>
            <a:off x="6236969" y="1905000"/>
            <a:ext cx="2289812" cy="310119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chemeClr val="accent1">
                    <a:satOff val="-38229"/>
                    <a:lumOff val="17598"/>
                  </a:schemeClr>
                </a:solidFill>
              </a:defRPr>
            </a:lvl1pPr>
          </a:lstStyle>
          <a:p>
            <a:pPr/>
            <a:r>
              <a:t>Affected tasks</a:t>
            </a:r>
          </a:p>
        </p:txBody>
      </p:sp>
      <p:sp>
        <p:nvSpPr>
          <p:cNvPr id="157" name="Interpretation"/>
          <p:cNvSpPr txBox="1"/>
          <p:nvPr/>
        </p:nvSpPr>
        <p:spPr>
          <a:xfrm>
            <a:off x="9046844" y="1905000"/>
            <a:ext cx="2385062" cy="310119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E86AB"/>
                </a:solidFill>
              </a:defRPr>
            </a:lvl1pPr>
          </a:lstStyle>
          <a:p>
            <a:pPr/>
            <a:r>
              <a:t>Interpretation</a:t>
            </a:r>
          </a:p>
        </p:txBody>
      </p:sp>
      <p:sp>
        <p:nvSpPr>
          <p:cNvPr id="158" name="Rectangle"/>
          <p:cNvSpPr/>
          <p:nvPr/>
        </p:nvSpPr>
        <p:spPr>
          <a:xfrm>
            <a:off x="495300" y="2324100"/>
            <a:ext cx="11191875" cy="5143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9" name="Extrapolation collapse"/>
          <p:cNvSpPr txBox="1"/>
          <p:nvPr/>
        </p:nvSpPr>
        <p:spPr>
          <a:xfrm>
            <a:off x="655319" y="2400300"/>
            <a:ext cx="228981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/>
            <a:r>
              <a:t>Extrapolation collapse</a:t>
            </a:r>
          </a:p>
        </p:txBody>
      </p:sp>
      <p:sp>
        <p:nvSpPr>
          <p:cNvPr id="160" name="High train exact, 0% long exact"/>
          <p:cNvSpPr txBox="1"/>
          <p:nvPr/>
        </p:nvSpPr>
        <p:spPr>
          <a:xfrm>
            <a:off x="3427094" y="2400300"/>
            <a:ext cx="238506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High train exact, 0% long exact</a:t>
            </a:r>
          </a:p>
        </p:txBody>
      </p:sp>
      <p:sp>
        <p:nvSpPr>
          <p:cNvPr id="161" name="Addition, copy, reverse"/>
          <p:cNvSpPr txBox="1"/>
          <p:nvPr/>
        </p:nvSpPr>
        <p:spPr>
          <a:xfrm>
            <a:off x="6236969" y="2400300"/>
            <a:ext cx="238506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Addition, copy, reverse</a:t>
            </a:r>
          </a:p>
        </p:txBody>
      </p:sp>
      <p:sp>
        <p:nvSpPr>
          <p:cNvPr id="162" name="Length-specific solution"/>
          <p:cNvSpPr txBox="1"/>
          <p:nvPr/>
        </p:nvSpPr>
        <p:spPr>
          <a:xfrm>
            <a:off x="9046844" y="2400300"/>
            <a:ext cx="228981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Length-specific solution</a:t>
            </a:r>
          </a:p>
        </p:txBody>
      </p:sp>
      <p:sp>
        <p:nvSpPr>
          <p:cNvPr id="163" name="Underfitting"/>
          <p:cNvSpPr txBox="1"/>
          <p:nvPr/>
        </p:nvSpPr>
        <p:spPr>
          <a:xfrm>
            <a:off x="655319" y="3067050"/>
            <a:ext cx="228981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/>
            <a:r>
              <a:t>Underfitting</a:t>
            </a:r>
          </a:p>
        </p:txBody>
      </p:sp>
      <p:sp>
        <p:nvSpPr>
          <p:cNvPr id="164" name="0% at train length"/>
          <p:cNvSpPr txBox="1"/>
          <p:nvPr/>
        </p:nvSpPr>
        <p:spPr>
          <a:xfrm>
            <a:off x="3427094" y="3067050"/>
            <a:ext cx="238506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0% at train length</a:t>
            </a:r>
          </a:p>
        </p:txBody>
      </p:sp>
      <p:sp>
        <p:nvSpPr>
          <p:cNvPr id="165" name="NoPE, ALiBi, mixed"/>
          <p:cNvSpPr txBox="1"/>
          <p:nvPr/>
        </p:nvSpPr>
        <p:spPr>
          <a:xfrm>
            <a:off x="6236969" y="3067050"/>
            <a:ext cx="238506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NoPE, ALiBi, mixed</a:t>
            </a:r>
          </a:p>
        </p:txBody>
      </p:sp>
      <p:sp>
        <p:nvSpPr>
          <p:cNvPr id="166" name="Not a valid extrapolation test"/>
          <p:cNvSpPr txBox="1"/>
          <p:nvPr/>
        </p:nvSpPr>
        <p:spPr>
          <a:xfrm>
            <a:off x="9046844" y="3067050"/>
            <a:ext cx="228981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Not a valid extrapolation test</a:t>
            </a:r>
          </a:p>
        </p:txBody>
      </p:sp>
      <p:sp>
        <p:nvSpPr>
          <p:cNvPr id="167" name="Rectangle"/>
          <p:cNvSpPr/>
          <p:nvPr/>
        </p:nvSpPr>
        <p:spPr>
          <a:xfrm>
            <a:off x="495300" y="3657600"/>
            <a:ext cx="11191875" cy="5143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8" name="Seed instability"/>
          <p:cNvSpPr txBox="1"/>
          <p:nvPr/>
        </p:nvSpPr>
        <p:spPr>
          <a:xfrm>
            <a:off x="655319" y="3733800"/>
            <a:ext cx="228981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/>
            <a:r>
              <a:t>Seed instability</a:t>
            </a:r>
          </a:p>
        </p:txBody>
      </p:sp>
      <p:sp>
        <p:nvSpPr>
          <p:cNvPr id="169" name="High std/SE"/>
          <p:cNvSpPr txBox="1"/>
          <p:nvPr/>
        </p:nvSpPr>
        <p:spPr>
          <a:xfrm>
            <a:off x="3427094" y="3733800"/>
            <a:ext cx="238506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High std/SE</a:t>
            </a:r>
          </a:p>
        </p:txBody>
      </p:sp>
      <p:sp>
        <p:nvSpPr>
          <p:cNvPr id="170" name="Copy learned, reverse sinusoidal"/>
          <p:cNvSpPr txBox="1"/>
          <p:nvPr/>
        </p:nvSpPr>
        <p:spPr>
          <a:xfrm>
            <a:off x="6236969" y="3733800"/>
            <a:ext cx="238506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Copy learned, reverse sinusoidal</a:t>
            </a:r>
          </a:p>
        </p:txBody>
      </p:sp>
      <p:sp>
        <p:nvSpPr>
          <p:cNvPr id="171" name="Optimisation-sensitive"/>
          <p:cNvSpPr txBox="1"/>
          <p:nvPr/>
        </p:nvSpPr>
        <p:spPr>
          <a:xfrm>
            <a:off x="9046844" y="3733800"/>
            <a:ext cx="228981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Optimisation-sensitive</a:t>
            </a:r>
          </a:p>
        </p:txBody>
      </p:sp>
      <p:sp>
        <p:nvSpPr>
          <p:cNvPr id="172" name="Attention diffusion"/>
          <p:cNvSpPr txBox="1"/>
          <p:nvPr/>
        </p:nvSpPr>
        <p:spPr>
          <a:xfrm>
            <a:off x="655319" y="4400550"/>
            <a:ext cx="228981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/>
            <a:r>
              <a:t>Attention diffusion</a:t>
            </a:r>
          </a:p>
        </p:txBody>
      </p:sp>
      <p:sp>
        <p:nvSpPr>
          <p:cNvPr id="173" name="Entropy rises with length"/>
          <p:cNvSpPr txBox="1"/>
          <p:nvPr/>
        </p:nvSpPr>
        <p:spPr>
          <a:xfrm>
            <a:off x="3427094" y="4400550"/>
            <a:ext cx="238506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Entropy rises with length</a:t>
            </a:r>
          </a:p>
        </p:txBody>
      </p:sp>
      <p:sp>
        <p:nvSpPr>
          <p:cNvPr id="174" name="Addition, copy, reverse"/>
          <p:cNvSpPr txBox="1"/>
          <p:nvPr/>
        </p:nvSpPr>
        <p:spPr>
          <a:xfrm>
            <a:off x="6236969" y="4400550"/>
            <a:ext cx="238506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Addition, copy, reverse</a:t>
            </a:r>
          </a:p>
        </p:txBody>
      </p:sp>
      <p:sp>
        <p:nvSpPr>
          <p:cNvPr id="175" name="Attention pattern shifts"/>
          <p:cNvSpPr txBox="1"/>
          <p:nvPr/>
        </p:nvSpPr>
        <p:spPr>
          <a:xfrm>
            <a:off x="9046844" y="4400550"/>
            <a:ext cx="228981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Attention pattern shifts</a:t>
            </a:r>
          </a:p>
        </p:txBody>
      </p:sp>
      <p:sp>
        <p:nvSpPr>
          <p:cNvPr id="176" name="Rectangle"/>
          <p:cNvSpPr/>
          <p:nvPr/>
        </p:nvSpPr>
        <p:spPr>
          <a:xfrm>
            <a:off x="495300" y="4991100"/>
            <a:ext cx="11191875" cy="5143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7" name="Mitigation-resistant"/>
          <p:cNvSpPr txBox="1"/>
          <p:nvPr/>
        </p:nvSpPr>
        <p:spPr>
          <a:xfrm>
            <a:off x="655319" y="5067300"/>
            <a:ext cx="228981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/>
            <a:r>
              <a:t>Mitigation-resistant</a:t>
            </a:r>
          </a:p>
        </p:txBody>
      </p:sp>
      <p:sp>
        <p:nvSpPr>
          <p:cNvPr id="178" name="Train fit, 0% at 256+"/>
          <p:cNvSpPr txBox="1"/>
          <p:nvPr/>
        </p:nvSpPr>
        <p:spPr>
          <a:xfrm>
            <a:off x="3427094" y="5067300"/>
            <a:ext cx="238506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Train fit, 0% at 256+</a:t>
            </a:r>
          </a:p>
        </p:txBody>
      </p:sp>
      <p:sp>
        <p:nvSpPr>
          <p:cNvPr id="179" name="Copy, reverse"/>
          <p:cNvSpPr txBox="1"/>
          <p:nvPr/>
        </p:nvSpPr>
        <p:spPr>
          <a:xfrm>
            <a:off x="6236969" y="5067300"/>
            <a:ext cx="238506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Copy, reverse</a:t>
            </a:r>
          </a:p>
        </p:txBody>
      </p:sp>
      <p:sp>
        <p:nvSpPr>
          <p:cNvPr id="180" name="Simple fixes insufficient"/>
          <p:cNvSpPr txBox="1"/>
          <p:nvPr/>
        </p:nvSpPr>
        <p:spPr>
          <a:xfrm>
            <a:off x="9046844" y="5067300"/>
            <a:ext cx="2289812" cy="257830"/>
          </a:xfrm>
          <a:prstGeom prst="rect">
            <a:avLst/>
          </a:prstGeom>
          <a:ln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C667A"/>
                </a:solidFill>
              </a:defRPr>
            </a:lvl1pPr>
          </a:lstStyle>
          <a:p>
            <a:pPr/>
            <a:r>
              <a:t>Simple fixes insufficient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What changed since the last update"/>
          <p:cNvSpPr txBox="1"/>
          <p:nvPr/>
        </p:nvSpPr>
        <p:spPr>
          <a:xfrm>
            <a:off x="655319" y="457200"/>
            <a:ext cx="10576562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172033"/>
                </a:solidFill>
              </a:defRPr>
            </a:lvl1pPr>
          </a:lstStyle>
          <a:p>
            <a:pPr/>
            <a:r>
              <a:t>What changed since the last update</a:t>
            </a:r>
          </a:p>
        </p:txBody>
      </p:sp>
      <p:sp>
        <p:nvSpPr>
          <p:cNvPr id="185" name="The project moved from baseline evidence to a complete failure analysis package."/>
          <p:cNvSpPr txBox="1"/>
          <p:nvPr/>
        </p:nvSpPr>
        <p:spPr>
          <a:xfrm>
            <a:off x="655319" y="1000125"/>
            <a:ext cx="10576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C667A"/>
                </a:solidFill>
              </a:defRPr>
            </a:lvl1pPr>
          </a:lstStyle>
          <a:p>
            <a:pPr/>
            <a:r>
              <a:t>The project moved from baseline evidence to a complete failure analysis package.</a:t>
            </a:r>
          </a:p>
        </p:txBody>
      </p:sp>
      <p:sp>
        <p:nvSpPr>
          <p:cNvPr id="186" name="Rectangle"/>
          <p:cNvSpPr/>
          <p:nvPr/>
        </p:nvSpPr>
        <p:spPr>
          <a:xfrm>
            <a:off x="609600" y="1543049"/>
            <a:ext cx="10972800" cy="13336"/>
          </a:xfrm>
          <a:prstGeom prst="rect">
            <a:avLst/>
          </a:prstGeom>
          <a:solidFill>
            <a:srgbClr val="D8DEE9"/>
          </a:solidFill>
          <a:ln w="3175">
            <a:solidFill>
              <a:srgbClr val="D8DEE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7" name="Circle"/>
          <p:cNvSpPr/>
          <p:nvPr/>
        </p:nvSpPr>
        <p:spPr>
          <a:xfrm>
            <a:off x="914400" y="207645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8" name="Completed corrected PE matrix after fixing the ALiBi/NoPE configuration issue."/>
          <p:cNvSpPr txBox="1"/>
          <p:nvPr/>
        </p:nvSpPr>
        <p:spPr>
          <a:xfrm>
            <a:off x="1188719" y="2000250"/>
            <a:ext cx="9966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Completed corrected PE matrix after fixing the ALiBi/NoPE configuration issue.</a:t>
            </a:r>
          </a:p>
        </p:txBody>
      </p:sp>
      <p:sp>
        <p:nvSpPr>
          <p:cNvPr id="189" name="Circle"/>
          <p:cNvSpPr/>
          <p:nvPr/>
        </p:nvSpPr>
        <p:spPr>
          <a:xfrm>
            <a:off x="914400" y="262890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0" name="Repeated main experiments across three seeds and reported mean, std, and SE."/>
          <p:cNvSpPr txBox="1"/>
          <p:nvPr/>
        </p:nvSpPr>
        <p:spPr>
          <a:xfrm>
            <a:off x="1188719" y="2552700"/>
            <a:ext cx="9966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Repeated main experiments across three seeds and reported mean, std, and SE.</a:t>
            </a:r>
          </a:p>
        </p:txBody>
      </p:sp>
      <p:sp>
        <p:nvSpPr>
          <p:cNvPr id="191" name="Circle"/>
          <p:cNvSpPr/>
          <p:nvPr/>
        </p:nvSpPr>
        <p:spPr>
          <a:xfrm>
            <a:off x="914400" y="318135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2" name="Added attention diagnostics at train, first-failure, and longest lengths."/>
          <p:cNvSpPr txBox="1"/>
          <p:nvPr/>
        </p:nvSpPr>
        <p:spPr>
          <a:xfrm>
            <a:off x="1188719" y="3105150"/>
            <a:ext cx="9966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Added attention diagnostics at train, first-failure, and longest lengths.</a:t>
            </a:r>
          </a:p>
        </p:txBody>
      </p:sp>
      <p:sp>
        <p:nvSpPr>
          <p:cNvPr id="193" name="Circle"/>
          <p:cNvSpPr/>
          <p:nvPr/>
        </p:nvSpPr>
        <p:spPr>
          <a:xfrm>
            <a:off x="914400" y="373380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4" name="Tested mitigation strategies: mixed, curriculum, and randomised padded training."/>
          <p:cNvSpPr txBox="1"/>
          <p:nvPr/>
        </p:nvSpPr>
        <p:spPr>
          <a:xfrm>
            <a:off x="1188719" y="3657600"/>
            <a:ext cx="9966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Tested mitigation strategies: mixed, curriculum, and randomised padded training.</a:t>
            </a:r>
          </a:p>
        </p:txBody>
      </p:sp>
      <p:sp>
        <p:nvSpPr>
          <p:cNvPr id="195" name="Circle"/>
          <p:cNvSpPr/>
          <p:nvPr/>
        </p:nvSpPr>
        <p:spPr>
          <a:xfrm>
            <a:off x="914400" y="4286250"/>
            <a:ext cx="85726" cy="85726"/>
          </a:xfrm>
          <a:prstGeom prst="ellipse">
            <a:avLst/>
          </a:prstGeom>
          <a:solidFill>
            <a:srgbClr val="2E86AB"/>
          </a:solidFill>
          <a:ln w="3175">
            <a:solidFill>
              <a:srgbClr val="2E86A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6" name="Built a failure taxonomy."/>
          <p:cNvSpPr txBox="1"/>
          <p:nvPr/>
        </p:nvSpPr>
        <p:spPr>
          <a:xfrm>
            <a:off x="1188719" y="4210050"/>
            <a:ext cx="9966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72033"/>
                </a:solidFill>
              </a:defRPr>
            </a:lvl1pPr>
          </a:lstStyle>
          <a:p>
            <a:pPr/>
            <a:r>
              <a:t>Built a failure taxonomy.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